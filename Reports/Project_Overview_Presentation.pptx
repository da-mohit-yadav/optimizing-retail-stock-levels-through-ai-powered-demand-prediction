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7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9" autoAdjust="0"/>
    <p:restoredTop sz="94660"/>
  </p:normalViewPr>
  <p:slideViewPr>
    <p:cSldViewPr snapToGrid="0" snapToObjects="1">
      <p:cViewPr varScale="1">
        <p:scale>
          <a:sx n="78" d="100"/>
          <a:sy n="78" d="100"/>
        </p:scale>
        <p:origin x="1459"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2308"/>
            <a:ext cx="9144000" cy="6860308"/>
            <a:chOff x="0" y="-2308"/>
            <a:chExt cx="9144000" cy="6860308"/>
          </a:xfrm>
        </p:grpSpPr>
        <p:sp>
          <p:nvSpPr>
            <p:cNvPr id="8" name="Rectangle 7"/>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Oval 8"/>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Oval 10"/>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866441" y="2222624"/>
            <a:ext cx="5917679" cy="2554758"/>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a:xfrm>
            <a:off x="866441" y="4777380"/>
            <a:ext cx="5917679"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7500385" y="1828799"/>
            <a:ext cx="990599" cy="228659"/>
          </a:xfrm>
        </p:spPr>
        <p:txBody>
          <a:bodyPr anchor="t" anchorCtr="0"/>
          <a:lstStyle>
            <a:lvl1pPr algn="l">
              <a:defRPr b="0" i="0">
                <a:solidFill>
                  <a:schemeClr val="bg1"/>
                </a:solidFill>
              </a:defRPr>
            </a:lvl1p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a:xfrm rot="5400000">
            <a:off x="6236209" y="3264406"/>
            <a:ext cx="3859795" cy="228660"/>
          </a:xfrm>
        </p:spPr>
        <p:txBody>
          <a:bodyPr/>
          <a:lstStyle>
            <a:lvl1pPr>
              <a:defRPr>
                <a:solidFill>
                  <a:schemeClr val="bg1"/>
                </a:solidFill>
              </a:defRPr>
            </a:lvl1p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65279" y="292609"/>
            <a:ext cx="628813" cy="767687"/>
          </a:xfrm>
        </p:spPr>
        <p:txBody>
          <a:bodyPr/>
          <a:lstStyle>
            <a:lvl1pPr>
              <a:defRPr sz="2800" b="0" i="0" baseline="0">
                <a:latin typeface="+mj-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131371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lvl1pPr>
              <a:defRPr sz="900"/>
            </a:lvl1p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48697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0" name="Group 9"/>
          <p:cNvGrpSpPr/>
          <p:nvPr/>
        </p:nvGrpSpPr>
        <p:grpSpPr>
          <a:xfrm>
            <a:off x="0" y="-2308"/>
            <a:ext cx="9144000" cy="6860308"/>
            <a:chOff x="0" y="-2308"/>
            <a:chExt cx="9144000" cy="6860308"/>
          </a:xfrm>
        </p:grpSpPr>
        <p:sp>
          <p:nvSpPr>
            <p:cNvPr id="11" name="Rectangle 10"/>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Rectangle 6"/>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7"/>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2257588"/>
            <a:ext cx="3101765" cy="3020343"/>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8"/>
            <a:ext cx="3054653" cy="302034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13058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199"/>
            <a:ext cx="3636980" cy="353060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0" y="2489199"/>
            <a:ext cx="3636981" cy="35306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03513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3636979"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66441" y="3248490"/>
            <a:ext cx="3636978" cy="277131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80"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0581" y="3248490"/>
            <a:ext cx="3636979" cy="277131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70743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24761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5/19/2026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55220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1" name="Group 10"/>
          <p:cNvGrpSpPr/>
          <p:nvPr/>
        </p:nvGrpSpPr>
        <p:grpSpPr>
          <a:xfrm>
            <a:off x="0" y="-2308"/>
            <a:ext cx="9144000" cy="6860308"/>
            <a:chOff x="0" y="-2308"/>
            <a:chExt cx="9144000" cy="6860308"/>
          </a:xfrm>
        </p:grpSpPr>
        <p:sp>
          <p:nvSpPr>
            <p:cNvPr id="12" name="Rectangle 11"/>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8"/>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9"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497437"/>
            <a:ext cx="2712589"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52881"/>
            <a:ext cx="3632850"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086844"/>
            <a:ext cx="2712590" cy="2925413"/>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9573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1" name="Group 10"/>
          <p:cNvGrpSpPr/>
          <p:nvPr/>
        </p:nvGrpSpPr>
        <p:grpSpPr>
          <a:xfrm>
            <a:off x="0" y="-2308"/>
            <a:ext cx="9144000" cy="6860308"/>
            <a:chOff x="0" y="-2308"/>
            <a:chExt cx="9144000" cy="6860308"/>
          </a:xfrm>
        </p:grpSpPr>
        <p:sp>
          <p:nvSpPr>
            <p:cNvPr id="12" name="Rectangle 11"/>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8"/>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9"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2" y="1362190"/>
            <a:ext cx="2987087" cy="157480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51591" y="3088562"/>
            <a:ext cx="3001938" cy="2448637"/>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15163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11" name="Group 10"/>
          <p:cNvGrpSpPr/>
          <p:nvPr/>
        </p:nvGrpSpPr>
        <p:grpSpPr>
          <a:xfrm>
            <a:off x="0" y="-2308"/>
            <a:ext cx="9144000" cy="6860308"/>
            <a:chOff x="0" y="-2308"/>
            <a:chExt cx="9144000" cy="6860308"/>
          </a:xfrm>
        </p:grpSpPr>
        <p:sp>
          <p:nvSpPr>
            <p:cNvPr id="12" name="Rectangle 11"/>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3" y="4961453"/>
            <a:ext cx="6422002"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528191"/>
            <a:ext cx="6422003"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06265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0" y="-2308"/>
            <a:ext cx="9144000" cy="6860308"/>
            <a:chOff x="0" y="-2308"/>
            <a:chExt cx="9144000" cy="6860308"/>
          </a:xfrm>
        </p:grpSpPr>
        <p:sp>
          <p:nvSpPr>
            <p:cNvPr id="11" name="Rectangle 10"/>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Rectangle 13"/>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2"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927100"/>
            <a:ext cx="6422004" cy="1653117"/>
          </a:xfrm>
        </p:spPr>
        <p:txBody>
          <a:bodyPr anchor="ct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1" y="3509006"/>
            <a:ext cx="6422003" cy="2515873"/>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18" name="Rectangle 1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180112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2308"/>
            <a:ext cx="9144000" cy="6860308"/>
            <a:chOff x="0" y="-2308"/>
            <a:chExt cx="9144000" cy="6860308"/>
          </a:xfrm>
        </p:grpSpPr>
        <p:sp>
          <p:nvSpPr>
            <p:cNvPr id="13" name="Rectangle 12"/>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5"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36" name="Freeform 35"/>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1"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10" name="TextBox 9"/>
          <p:cNvSpPr txBox="1"/>
          <p:nvPr/>
        </p:nvSpPr>
        <p:spPr>
          <a:xfrm>
            <a:off x="644721" y="654263"/>
            <a:ext cx="601591" cy="1323439"/>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8000" dirty="0"/>
              <a:t>“</a:t>
            </a:r>
          </a:p>
        </p:txBody>
      </p:sp>
      <p:sp>
        <p:nvSpPr>
          <p:cNvPr id="11" name="TextBox 10"/>
          <p:cNvSpPr txBox="1"/>
          <p:nvPr/>
        </p:nvSpPr>
        <p:spPr>
          <a:xfrm>
            <a:off x="7227454" y="2900539"/>
            <a:ext cx="538973" cy="1323439"/>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8000" dirty="0"/>
              <a:t>”</a:t>
            </a:r>
          </a:p>
        </p:txBody>
      </p:sp>
      <p:sp>
        <p:nvSpPr>
          <p:cNvPr id="2" name="Title 1"/>
          <p:cNvSpPr>
            <a:spLocks noGrp="1"/>
          </p:cNvSpPr>
          <p:nvPr>
            <p:ph type="title"/>
          </p:nvPr>
        </p:nvSpPr>
        <p:spPr>
          <a:xfrm>
            <a:off x="1128059" y="914401"/>
            <a:ext cx="6160385" cy="2894878"/>
          </a:xfrm>
        </p:spPr>
        <p:txBody>
          <a:bodyP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a:xfrm>
            <a:off x="1387279" y="3814473"/>
            <a:ext cx="5646142" cy="333113"/>
          </a:xfrm>
        </p:spPr>
        <p:txBody>
          <a:bodyPr>
            <a:normAutofit/>
          </a:bodyPr>
          <a:lstStyle>
            <a:lvl1pPr marL="0" indent="0">
              <a:buNone/>
              <a:defRPr lang="en-US" sz="1400" b="0" i="0" kern="1200" cap="small" dirty="0">
                <a:solidFill>
                  <a:schemeClr val="accent1"/>
                </a:solidFill>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6" name="Text Placeholder 3"/>
          <p:cNvSpPr>
            <a:spLocks noGrp="1"/>
          </p:cNvSpPr>
          <p:nvPr>
            <p:ph type="body" sz="half" idx="2"/>
          </p:nvPr>
        </p:nvSpPr>
        <p:spPr>
          <a:xfrm>
            <a:off x="866440" y="5000815"/>
            <a:ext cx="6422005" cy="1024065"/>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lvl1pPr>
              <a:defRPr sz="900"/>
            </a:lvl1p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lvl1pPr>
              <a:defRPr sz="900"/>
            </a:lvl1pPr>
          </a:lstStyle>
          <a:p>
            <a:endParaRPr lang="en-US"/>
          </a:p>
        </p:txBody>
      </p:sp>
      <p:sp>
        <p:nvSpPr>
          <p:cNvPr id="43" name="Rectangle 42"/>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095983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7" name="Group 6"/>
          <p:cNvGrpSpPr/>
          <p:nvPr/>
        </p:nvGrpSpPr>
        <p:grpSpPr>
          <a:xfrm>
            <a:off x="0" y="-2308"/>
            <a:ext cx="9144000" cy="6860308"/>
            <a:chOff x="0" y="-2308"/>
            <a:chExt cx="9144000" cy="6860308"/>
          </a:xfrm>
        </p:grpSpPr>
        <p:sp>
          <p:nvSpPr>
            <p:cNvPr id="10" name="Rectangle 9"/>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11"/>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2057399"/>
            <a:ext cx="6422004" cy="209550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159399"/>
            <a:ext cx="6422004"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15" name="Rectangle 1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3202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8884" y="927101"/>
            <a:ext cx="6423592"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8884" y="2489199"/>
            <a:ext cx="2310988"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2" name="Text Placeholder 3"/>
          <p:cNvSpPr>
            <a:spLocks noGrp="1"/>
          </p:cNvSpPr>
          <p:nvPr>
            <p:ph type="body" sz="half" idx="15"/>
          </p:nvPr>
        </p:nvSpPr>
        <p:spPr>
          <a:xfrm>
            <a:off x="868884" y="3147164"/>
            <a:ext cx="2310988" cy="287771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408471" y="2489201"/>
            <a:ext cx="232675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Text Placeholder 3"/>
          <p:cNvSpPr>
            <a:spLocks noGrp="1"/>
          </p:cNvSpPr>
          <p:nvPr>
            <p:ph type="body" sz="half" idx="16"/>
          </p:nvPr>
        </p:nvSpPr>
        <p:spPr>
          <a:xfrm>
            <a:off x="3408472" y="3147164"/>
            <a:ext cx="2326750"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5963820" y="2489200"/>
            <a:ext cx="2313740" cy="657961"/>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4" name="Text Placeholder 3"/>
          <p:cNvSpPr>
            <a:spLocks noGrp="1"/>
          </p:cNvSpPr>
          <p:nvPr>
            <p:ph type="body" sz="half" idx="17"/>
          </p:nvPr>
        </p:nvSpPr>
        <p:spPr>
          <a:xfrm>
            <a:off x="5963820" y="3147162"/>
            <a:ext cx="2313739" cy="2888368"/>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5/19/2026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836394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1" y="936973"/>
            <a:ext cx="6423592" cy="699992"/>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39" y="4188546"/>
            <a:ext cx="2314064" cy="649011"/>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1021261" y="2489200"/>
            <a:ext cx="2012937"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866438" y="4837558"/>
            <a:ext cx="2309280" cy="1187322"/>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404317" y="4188546"/>
            <a:ext cx="2330903"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16"/>
          </p:nvPr>
        </p:nvSpPr>
        <p:spPr>
          <a:xfrm>
            <a:off x="3550622" y="2489200"/>
            <a:ext cx="2025182"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04317" y="4846509"/>
            <a:ext cx="2330904" cy="1178372"/>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5963820" y="4184814"/>
            <a:ext cx="2299492"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17"/>
          </p:nvPr>
        </p:nvSpPr>
        <p:spPr>
          <a:xfrm>
            <a:off x="6104945" y="2489200"/>
            <a:ext cx="2018839"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63820" y="4846510"/>
            <a:ext cx="2299492" cy="1189020"/>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21" name="Straight Connector 20"/>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5/19/2026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992459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866441" y="2489200"/>
            <a:ext cx="6343201" cy="35306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lvl1pPr>
              <a:defRPr sz="900"/>
            </a:lvl1p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395161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0" name="Group 9"/>
          <p:cNvGrpSpPr/>
          <p:nvPr/>
        </p:nvGrpSpPr>
        <p:grpSpPr>
          <a:xfrm>
            <a:off x="0" y="-2308"/>
            <a:ext cx="9144000" cy="6860308"/>
            <a:chOff x="0" y="-2308"/>
            <a:chExt cx="9144000" cy="6860308"/>
          </a:xfrm>
        </p:grpSpPr>
        <p:sp>
          <p:nvSpPr>
            <p:cNvPr id="11" name="Rectangle 10"/>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Rectangle 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7"/>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Vertical Title 1"/>
          <p:cNvSpPr>
            <a:spLocks noGrp="1"/>
          </p:cNvSpPr>
          <p:nvPr>
            <p:ph type="title" orient="vert"/>
          </p:nvPr>
        </p:nvSpPr>
        <p:spPr>
          <a:xfrm>
            <a:off x="6168970" y="1447799"/>
            <a:ext cx="1119474" cy="457199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48235" y="1447799"/>
            <a:ext cx="4435439" cy="4571999"/>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21721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2308"/>
            <a:ext cx="9144000" cy="6860308"/>
            <a:chOff x="0" y="-2308"/>
            <a:chExt cx="9144000" cy="6860308"/>
          </a:xfrm>
        </p:grpSpPr>
        <p:sp>
          <p:nvSpPr>
            <p:cNvPr id="15" name="Rectangle 14"/>
            <p:cNvSpPr/>
            <p:nvPr/>
          </p:nvSpPr>
          <p:spPr>
            <a:xfrm>
              <a:off x="0" y="0"/>
              <a:ext cx="9144000" cy="6858000"/>
            </a:xfrm>
            <a:prstGeom prst="rect">
              <a:avLst/>
            </a:prstGeom>
            <a:blipFill>
              <a:blip r:embed="rId19">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13"/>
            <p:cNvSpPr/>
            <p:nvPr/>
          </p:nvSpPr>
          <p:spPr bwMode="gray">
            <a:xfrm>
              <a:off x="485023" y="1854142"/>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6"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Placeholder 1"/>
          <p:cNvSpPr>
            <a:spLocks noGrp="1"/>
          </p:cNvSpPr>
          <p:nvPr>
            <p:ph type="title"/>
          </p:nvPr>
        </p:nvSpPr>
        <p:spPr bwMode="gray">
          <a:xfrm>
            <a:off x="863564" y="925605"/>
            <a:ext cx="6346078" cy="711359"/>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6441" y="2489200"/>
            <a:ext cx="6343201" cy="35306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590842" y="6365497"/>
            <a:ext cx="3859795" cy="228660"/>
          </a:xfrm>
          <a:prstGeom prst="rect">
            <a:avLst/>
          </a:prstGeom>
        </p:spPr>
        <p:txBody>
          <a:bodyPr vert="horz" lIns="91440" tIns="45720" rIns="91440" bIns="45720" rtlCol="0" anchor="b"/>
          <a:lstStyle>
            <a:lvl1pPr algn="l">
              <a:defRPr sz="1000" b="1" i="0">
                <a:solidFill>
                  <a:schemeClr val="accent1"/>
                </a:solidFill>
              </a:defRPr>
            </a:lvl1pPr>
          </a:lstStyle>
          <a:p>
            <a:endParaRPr lang="en-US"/>
          </a:p>
        </p:txBody>
      </p:sp>
      <p:sp>
        <p:nvSpPr>
          <p:cNvPr id="4" name="Date Placeholder 3"/>
          <p:cNvSpPr>
            <a:spLocks noGrp="1"/>
          </p:cNvSpPr>
          <p:nvPr>
            <p:ph type="dt" sz="half" idx="2"/>
          </p:nvPr>
        </p:nvSpPr>
        <p:spPr>
          <a:xfrm>
            <a:off x="7574443" y="6371444"/>
            <a:ext cx="990599" cy="228659"/>
          </a:xfrm>
          <a:prstGeom prst="rect">
            <a:avLst/>
          </a:prstGeom>
        </p:spPr>
        <p:txBody>
          <a:bodyPr vert="horz" lIns="91440" tIns="45720" rIns="91440" bIns="45720" rtlCol="0" anchor="b"/>
          <a:lstStyle>
            <a:lvl1pPr algn="r">
              <a:defRPr sz="900" b="1" i="0">
                <a:solidFill>
                  <a:schemeClr val="accent1"/>
                </a:solidFill>
              </a:defRPr>
            </a:lvl1pPr>
          </a:lstStyle>
          <a:p>
            <a:fld id="{5BCAD085-E8A6-8845-BD4E-CB4CCA059FC4}" type="datetimeFigureOut">
              <a:rPr lang="en-US" smtClean="0"/>
              <a:t>5/19/2026</a:t>
            </a:fld>
            <a:endParaRPr lang="en-US"/>
          </a:p>
        </p:txBody>
      </p:sp>
      <p:sp>
        <p:nvSpPr>
          <p:cNvPr id="17" name="Rectangle 1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7766428" y="295730"/>
            <a:ext cx="628813" cy="767687"/>
          </a:xfrm>
          <a:prstGeom prst="rect">
            <a:avLst/>
          </a:prstGeom>
        </p:spPr>
        <p:txBody>
          <a:bodyPr vert="horz" lIns="91440" tIns="45720" rIns="91440" bIns="45720" rtlCol="0" anchor="b"/>
          <a:lstStyle>
            <a:lvl1pPr algn="ctr">
              <a:defRPr sz="2800" b="0" i="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454943647"/>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 id="2147483888" r:id="rId12"/>
    <p:sldLayoutId id="2147483889" r:id="rId13"/>
    <p:sldLayoutId id="2147483890" r:id="rId14"/>
    <p:sldLayoutId id="2147483891" r:id="rId15"/>
    <p:sldLayoutId id="2147483892" r:id="rId16"/>
    <p:sldLayoutId id="2147483893" r:id="rId17"/>
  </p:sldLayoutIdLst>
  <p:txStyles>
    <p:titleStyle>
      <a:lvl1pPr algn="l" defTabSz="457200" rtl="0" eaLnBrk="1" latinLnBrk="0" hangingPunct="1">
        <a:spcBef>
          <a:spcPct val="0"/>
        </a:spcBef>
        <a:buNone/>
        <a:defRPr sz="32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6357" y="798129"/>
            <a:ext cx="7041630" cy="1093509"/>
          </a:xfrm>
        </p:spPr>
        <p:txBody>
          <a:bodyPr/>
          <a:lstStyle/>
          <a:p>
            <a:r>
              <a:rPr lang="en-US" sz="1800" dirty="0"/>
              <a:t> </a:t>
            </a:r>
            <a:r>
              <a:rPr lang="en-US" sz="1600" b="1" dirty="0"/>
              <a:t>Project Title -    Optimizing Retail Stock Levels Through AI-Powered Demand Prediction</a:t>
            </a:r>
            <a:r>
              <a:rPr sz="1600" dirty="0"/>
              <a:t> </a:t>
            </a:r>
          </a:p>
        </p:txBody>
      </p:sp>
      <p:sp>
        <p:nvSpPr>
          <p:cNvPr id="3" name="Content Placeholder 2"/>
          <p:cNvSpPr>
            <a:spLocks noGrp="1"/>
          </p:cNvSpPr>
          <p:nvPr>
            <p:ph idx="1"/>
          </p:nvPr>
        </p:nvSpPr>
        <p:spPr>
          <a:xfrm>
            <a:off x="554323" y="2411144"/>
            <a:ext cx="6711654" cy="4195481"/>
          </a:xfrm>
        </p:spPr>
        <p:txBody>
          <a:bodyPr>
            <a:normAutofit/>
          </a:bodyPr>
          <a:lstStyle/>
          <a:p>
            <a:r>
              <a:rPr lang="en-US" dirty="0"/>
              <a:t>Submitted in partial fulfillment of the requirements for the award of the degree of</a:t>
            </a:r>
          </a:p>
          <a:p>
            <a:r>
              <a:rPr lang="en-US" dirty="0"/>
              <a:t>Master of Science (Data Science) MSc (DS)</a:t>
            </a:r>
          </a:p>
          <a:p>
            <a:r>
              <a:rPr lang="en-US" dirty="0"/>
              <a:t>                     By</a:t>
            </a:r>
          </a:p>
          <a:p>
            <a:r>
              <a:rPr lang="en-US" dirty="0"/>
              <a:t>Student Name: Mohit Yadav</a:t>
            </a:r>
          </a:p>
          <a:p>
            <a:r>
              <a:rPr lang="en-US" dirty="0"/>
              <a:t>Enrollment No: 024MSD110076</a:t>
            </a:r>
          </a:p>
          <a:p>
            <a:r>
              <a:rPr lang="en-US" dirty="0"/>
              <a:t>Under the guidance of</a:t>
            </a:r>
          </a:p>
          <a:p>
            <a:r>
              <a:rPr lang="en-US" dirty="0"/>
              <a:t>Guide/Mentor Name: Vikas Kumar </a:t>
            </a:r>
            <a:r>
              <a:rPr lang="en-US" dirty="0" err="1"/>
              <a:t>Atray</a:t>
            </a:r>
            <a:endParaRPr lang="en-US" dirty="0"/>
          </a:p>
          <a:p>
            <a:endParaRPr dirty="0"/>
          </a:p>
        </p:txBody>
      </p:sp>
      <p:pic>
        <p:nvPicPr>
          <p:cNvPr id="5" name="Picture 4">
            <a:extLst>
              <a:ext uri="{FF2B5EF4-FFF2-40B4-BE49-F238E27FC236}">
                <a16:creationId xmlns:a16="http://schemas.microsoft.com/office/drawing/2014/main" id="{06EF1935-60BA-4B33-8818-3B1D5EB2EA1A}"/>
              </a:ext>
            </a:extLst>
          </p:cNvPr>
          <p:cNvPicPr>
            <a:picLocks noChangeAspect="1"/>
          </p:cNvPicPr>
          <p:nvPr/>
        </p:nvPicPr>
        <p:blipFill>
          <a:blip r:embed="rId2"/>
          <a:stretch>
            <a:fillRect/>
          </a:stretch>
        </p:blipFill>
        <p:spPr>
          <a:xfrm>
            <a:off x="3766784" y="0"/>
            <a:ext cx="4363059" cy="971686"/>
          </a:xfrm>
          <a:prstGeom prst="rect">
            <a:avLst/>
          </a:prstGeom>
          <a:solidFill>
            <a:schemeClr val="accent1">
              <a:alpha val="50000"/>
            </a:schemeClr>
          </a:solidFill>
          <a:ln>
            <a:noFill/>
          </a:ln>
          <a:effectLst>
            <a:outerShdw blurRad="292100" dist="139700" dir="2700000" algn="tl" rotWithShape="0">
              <a:srgbClr val="333333">
                <a:alpha val="6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Certificate</a:t>
            </a:r>
            <a:endParaRPr dirty="0"/>
          </a:p>
        </p:txBody>
      </p:sp>
      <p:pic>
        <p:nvPicPr>
          <p:cNvPr id="5" name="Picture 4">
            <a:extLst>
              <a:ext uri="{FF2B5EF4-FFF2-40B4-BE49-F238E27FC236}">
                <a16:creationId xmlns:a16="http://schemas.microsoft.com/office/drawing/2014/main" id="{08855A46-66BF-4306-AE7B-4A55DD0E232F}"/>
              </a:ext>
            </a:extLst>
          </p:cNvPr>
          <p:cNvPicPr>
            <a:picLocks noChangeAspect="1"/>
          </p:cNvPicPr>
          <p:nvPr/>
        </p:nvPicPr>
        <p:blipFill>
          <a:blip r:embed="rId2"/>
          <a:stretch>
            <a:fillRect/>
          </a:stretch>
        </p:blipFill>
        <p:spPr>
          <a:xfrm>
            <a:off x="3766784" y="0"/>
            <a:ext cx="4363059" cy="971686"/>
          </a:xfrm>
          <a:prstGeom prst="rect">
            <a:avLst/>
          </a:prstGeom>
          <a:solidFill>
            <a:schemeClr val="accent1">
              <a:alpha val="50000"/>
            </a:schemeClr>
          </a:solidFill>
          <a:ln>
            <a:noFill/>
          </a:ln>
          <a:effectLst>
            <a:outerShdw blurRad="292100" dist="139700" dir="2700000" algn="tl" rotWithShape="0">
              <a:srgbClr val="333333">
                <a:alpha val="65000"/>
              </a:srgbClr>
            </a:outerShdw>
          </a:effectLst>
        </p:spPr>
      </p:pic>
      <p:sp>
        <p:nvSpPr>
          <p:cNvPr id="8" name="Rectangle 8">
            <a:extLst>
              <a:ext uri="{FF2B5EF4-FFF2-40B4-BE49-F238E27FC236}">
                <a16:creationId xmlns:a16="http://schemas.microsoft.com/office/drawing/2014/main" id="{4EAACAA3-DC6D-D28B-1D40-4C1FE5F0CD03}"/>
              </a:ext>
            </a:extLst>
          </p:cNvPr>
          <p:cNvSpPr>
            <a:spLocks noChangeArrowheads="1"/>
          </p:cNvSpPr>
          <p:nvPr/>
        </p:nvSpPr>
        <p:spPr bwMode="auto">
          <a:xfrm>
            <a:off x="1160206" y="2497141"/>
            <a:ext cx="7148052"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kumimoji="0" lang="en-US" altLang="en-US" sz="1400" b="0" i="0" u="none" strike="noStrike" cap="none" normalizeH="0" baseline="0" dirty="0">
                <a:ln>
                  <a:noFill/>
                </a:ln>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BONAFIDE CERTIFICATE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Certified that this project report titled </a:t>
            </a:r>
            <a:r>
              <a:rPr kumimoji="0" lang="en-US" altLang="en-US" sz="1400" b="1" i="0" u="none" strike="noStrike" cap="none" normalizeH="0" baseline="0" dirty="0">
                <a:ln>
                  <a:noFill/>
                </a:ln>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a:t>
            </a:r>
            <a:r>
              <a:rPr kumimoji="0" lang="en-US" altLang="en-US" sz="1400" b="1" i="0" u="none" strike="noStrike" cap="none" normalizeH="0" baseline="0" dirty="0">
                <a:ln>
                  <a:noFill/>
                </a:ln>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Optimizing Retail Stock Levels Through AI-Powered Demand Prediction</a:t>
            </a:r>
            <a:r>
              <a:rPr kumimoji="0" lang="en-US" altLang="en-US" sz="1400" b="1" i="0" u="none" strike="noStrike" cap="none" normalizeH="0" baseline="0" dirty="0">
                <a:ln>
                  <a:noFill/>
                </a:ln>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a:t>
            </a:r>
            <a:r>
              <a:rPr kumimoji="0" lang="en-US" altLang="en-US" sz="1400" b="0" i="0" u="none" strike="noStrike" cap="none" normalizeH="0" baseline="0" dirty="0">
                <a:ln>
                  <a:noFill/>
                </a:ln>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is the bona fide work of </a:t>
            </a:r>
            <a:r>
              <a:rPr kumimoji="0" lang="en-US" altLang="en-US" sz="1400" b="1" i="0" u="none" strike="noStrike" cap="none" normalizeH="0" baseline="0" dirty="0">
                <a:ln>
                  <a:noFill/>
                </a:ln>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Mohit Yadav</a:t>
            </a:r>
            <a:r>
              <a:rPr kumimoji="0" lang="en-US" altLang="en-US" sz="1400" b="0" i="0" u="none" strike="noStrike" cap="none" normalizeH="0" baseline="0" dirty="0">
                <a:ln>
                  <a:noFill/>
                </a:ln>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Reg. No.: 024MSD110076, who carried out this project work under my supervision.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10">
            <a:extLst>
              <a:ext uri="{FF2B5EF4-FFF2-40B4-BE49-F238E27FC236}">
                <a16:creationId xmlns:a16="http://schemas.microsoft.com/office/drawing/2014/main" id="{6193679E-DC07-945C-84C4-E8161D3CCD9D}"/>
              </a:ext>
            </a:extLst>
          </p:cNvPr>
          <p:cNvSpPr>
            <a:spLocks noChangeArrowheads="1"/>
          </p:cNvSpPr>
          <p:nvPr/>
        </p:nvSpPr>
        <p:spPr bwMode="auto">
          <a:xfrm>
            <a:off x="1306256" y="5932395"/>
            <a:ext cx="682358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Date: 10/05/2026                                                                                     Date: 01-05-2026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Place: Chandigarh                                                                                    Place: Chandigarh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2A777822-F7B7-1631-DF16-8A858FB7E003}"/>
              </a:ext>
            </a:extLst>
          </p:cNvPr>
          <p:cNvSpPr txBox="1"/>
          <p:nvPr/>
        </p:nvSpPr>
        <p:spPr>
          <a:xfrm>
            <a:off x="1168603" y="4021394"/>
            <a:ext cx="2458065" cy="307777"/>
          </a:xfrm>
          <a:prstGeom prst="rect">
            <a:avLst/>
          </a:prstGeom>
          <a:noFill/>
        </p:spPr>
        <p:txBody>
          <a:bodyPr wrap="square" rtlCol="0">
            <a:spAutoFit/>
          </a:bodyPr>
          <a:lstStyle/>
          <a:p>
            <a:r>
              <a:rPr lang="en-IN" sz="1400" dirty="0">
                <a:latin typeface="Times New Roman" panose="02020603050405020304" pitchFamily="18" charset="0"/>
                <a:ea typeface="MS Mincho" panose="02020609040205080304" pitchFamily="49" charset="-128"/>
                <a:cs typeface="Times New Roman" panose="02020603050405020304" pitchFamily="18" charset="0"/>
              </a:rPr>
              <a:t>Guide Signature</a:t>
            </a:r>
          </a:p>
        </p:txBody>
      </p:sp>
      <p:sp>
        <p:nvSpPr>
          <p:cNvPr id="13" name="TextBox 12">
            <a:extLst>
              <a:ext uri="{FF2B5EF4-FFF2-40B4-BE49-F238E27FC236}">
                <a16:creationId xmlns:a16="http://schemas.microsoft.com/office/drawing/2014/main" id="{A0565AB2-3DC9-10C9-32BE-D3DFB17CF2C7}"/>
              </a:ext>
            </a:extLst>
          </p:cNvPr>
          <p:cNvSpPr txBox="1"/>
          <p:nvPr/>
        </p:nvSpPr>
        <p:spPr>
          <a:xfrm>
            <a:off x="6114200" y="4021393"/>
            <a:ext cx="2458065" cy="307777"/>
          </a:xfrm>
          <a:prstGeom prst="rect">
            <a:avLst/>
          </a:prstGeom>
          <a:noFill/>
        </p:spPr>
        <p:txBody>
          <a:bodyPr wrap="square" rtlCol="0">
            <a:spAutoFit/>
          </a:bodyPr>
          <a:lstStyle/>
          <a:p>
            <a:r>
              <a:rPr lang="en-IN" sz="1400" dirty="0">
                <a:latin typeface="Times New Roman" panose="02020603050405020304" pitchFamily="18" charset="0"/>
                <a:ea typeface="MS Mincho" panose="02020609040205080304" pitchFamily="49" charset="-128"/>
                <a:cs typeface="Times New Roman" panose="02020603050405020304" pitchFamily="18" charset="0"/>
              </a:rPr>
              <a:t>Student  Signature</a:t>
            </a:r>
          </a:p>
        </p:txBody>
      </p:sp>
      <p:pic>
        <p:nvPicPr>
          <p:cNvPr id="14" name="Picture 13">
            <a:extLst>
              <a:ext uri="{FF2B5EF4-FFF2-40B4-BE49-F238E27FC236}">
                <a16:creationId xmlns:a16="http://schemas.microsoft.com/office/drawing/2014/main" id="{B09D2DC7-00CC-DABC-F47E-8B6FCBF21E5F}"/>
              </a:ext>
            </a:extLst>
          </p:cNvPr>
          <p:cNvPicPr>
            <a:picLocks noChangeAspect="1"/>
          </p:cNvPicPr>
          <p:nvPr/>
        </p:nvPicPr>
        <p:blipFill>
          <a:blip r:embed="rId3"/>
          <a:stretch>
            <a:fillRect/>
          </a:stretch>
        </p:blipFill>
        <p:spPr>
          <a:xfrm>
            <a:off x="1168603" y="4480056"/>
            <a:ext cx="2085874" cy="1332230"/>
          </a:xfrm>
          <a:prstGeom prst="rect">
            <a:avLst/>
          </a:prstGeom>
        </p:spPr>
      </p:pic>
      <p:pic>
        <p:nvPicPr>
          <p:cNvPr id="15" name="Picture 14">
            <a:extLst>
              <a:ext uri="{FF2B5EF4-FFF2-40B4-BE49-F238E27FC236}">
                <a16:creationId xmlns:a16="http://schemas.microsoft.com/office/drawing/2014/main" id="{83B477CE-DEC2-766C-08AF-27C85B1FD270}"/>
              </a:ext>
            </a:extLst>
          </p:cNvPr>
          <p:cNvPicPr>
            <a:picLocks noChangeAspect="1"/>
          </p:cNvPicPr>
          <p:nvPr/>
        </p:nvPicPr>
        <p:blipFill>
          <a:blip r:embed="rId4"/>
          <a:stretch>
            <a:fillRect/>
          </a:stretch>
        </p:blipFill>
        <p:spPr>
          <a:xfrm>
            <a:off x="6114200" y="4562606"/>
            <a:ext cx="1861197" cy="12496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616006"/>
            <a:ext cx="6346078" cy="711359"/>
          </a:xfrm>
        </p:spPr>
        <p:txBody>
          <a:bodyPr/>
          <a:lstStyle/>
          <a:p>
            <a:r>
              <a:rPr dirty="0"/>
              <a:t>Declaration</a:t>
            </a:r>
          </a:p>
        </p:txBody>
      </p:sp>
      <p:sp>
        <p:nvSpPr>
          <p:cNvPr id="3" name="Content Placeholder 2"/>
          <p:cNvSpPr>
            <a:spLocks noGrp="1"/>
          </p:cNvSpPr>
          <p:nvPr>
            <p:ph idx="1"/>
          </p:nvPr>
        </p:nvSpPr>
        <p:spPr>
          <a:xfrm>
            <a:off x="484710" y="2271252"/>
            <a:ext cx="8499034" cy="4497194"/>
          </a:xfrm>
        </p:spPr>
        <p:txBody>
          <a:bodyPr>
            <a:normAutofit fontScale="25000" lnSpcReduction="20000"/>
          </a:bodyPr>
          <a:lstStyle/>
          <a:p>
            <a:pPr>
              <a:lnSpc>
                <a:spcPct val="120000"/>
              </a:lnSpc>
            </a:pPr>
            <a:r>
              <a:rPr lang="en-IN" sz="4400" dirty="0"/>
              <a:t>I, </a:t>
            </a:r>
            <a:r>
              <a:rPr lang="en-IN" sz="4400" b="1" dirty="0"/>
              <a:t>Mohit Yadav</a:t>
            </a:r>
            <a:r>
              <a:rPr lang="en-IN" sz="4400" dirty="0"/>
              <a:t>, hereby solemnly declare that the project report titled </a:t>
            </a:r>
            <a:r>
              <a:rPr lang="en-US" altLang="en-US" sz="4400" b="1" dirty="0">
                <a:solidFill>
                  <a:schemeClr val="tx1"/>
                </a:solidFill>
                <a:latin typeface="Cambria" panose="02040503050406030204" pitchFamily="18" charset="0"/>
                <a:ea typeface="MS Mincho" panose="02020609040205080304" pitchFamily="49" charset="-128"/>
                <a:cs typeface="Times New Roman" panose="02020603050405020304" pitchFamily="18" charset="0"/>
              </a:rPr>
              <a:t>“</a:t>
            </a:r>
            <a:r>
              <a:rPr lang="en-US" altLang="en-US" sz="4400" b="1" dirty="0">
                <a:solidFill>
                  <a:schemeClr val="tx1"/>
                </a:solidFill>
                <a:latin typeface="Times New Roman" panose="02020603050405020304" pitchFamily="18" charset="0"/>
                <a:ea typeface="MS Mincho" panose="02020609040205080304" pitchFamily="49" charset="-128"/>
                <a:cs typeface="Times New Roman" panose="02020603050405020304" pitchFamily="18" charset="0"/>
              </a:rPr>
              <a:t>Optimizing Retail Stock Levels Through AI-Powered Demand Prediction</a:t>
            </a:r>
            <a:r>
              <a:rPr lang="en-US" altLang="en-US" sz="4400" b="1" dirty="0">
                <a:solidFill>
                  <a:schemeClr val="tx1"/>
                </a:solidFill>
                <a:latin typeface="Cambria" panose="02040503050406030204" pitchFamily="18" charset="0"/>
                <a:ea typeface="MS Mincho" panose="02020609040205080304" pitchFamily="49" charset="-128"/>
                <a:cs typeface="Times New Roman" panose="02020603050405020304" pitchFamily="18" charset="0"/>
              </a:rPr>
              <a:t>”</a:t>
            </a:r>
            <a:r>
              <a:rPr lang="en-IN" sz="4400" dirty="0"/>
              <a:t> submitted in partial </a:t>
            </a:r>
            <a:r>
              <a:rPr lang="en-IN" sz="4400" dirty="0" err="1"/>
              <a:t>fulfillment</a:t>
            </a:r>
            <a:r>
              <a:rPr lang="en-IN" sz="4400" dirty="0"/>
              <a:t> of the requirements for the award of the degree of </a:t>
            </a:r>
            <a:r>
              <a:rPr lang="en-US" sz="4400" b="1" dirty="0">
                <a:solidFill>
                  <a:schemeClr val="tx1"/>
                </a:solidFill>
                <a:latin typeface="Times New Roman" panose="02020603050405020304" pitchFamily="18" charset="0"/>
                <a:ea typeface="MS Mincho" panose="02020609040205080304" pitchFamily="49" charset="-128"/>
                <a:cs typeface="Times New Roman" panose="02020603050405020304" pitchFamily="18" charset="0"/>
              </a:rPr>
              <a:t>Master of Science (Data Science) </a:t>
            </a:r>
          </a:p>
          <a:p>
            <a:pPr>
              <a:lnSpc>
                <a:spcPct val="120000"/>
              </a:lnSpc>
            </a:pPr>
            <a:r>
              <a:rPr lang="en-IN" sz="4400" b="1" dirty="0">
                <a:solidFill>
                  <a:schemeClr val="tx1"/>
                </a:solidFill>
                <a:latin typeface="Times New Roman" panose="02020603050405020304" pitchFamily="18" charset="0"/>
                <a:ea typeface="MS Mincho" panose="02020609040205080304" pitchFamily="49" charset="-128"/>
                <a:cs typeface="Times New Roman" panose="02020603050405020304" pitchFamily="18" charset="0"/>
              </a:rPr>
              <a:t>I further declare that:</a:t>
            </a:r>
            <a:endParaRPr lang="en-US" sz="4400" b="1" dirty="0">
              <a:solidFill>
                <a:schemeClr val="tx1"/>
              </a:solidFill>
              <a:latin typeface="Times New Roman" panose="02020603050405020304" pitchFamily="18" charset="0"/>
              <a:ea typeface="MS Mincho" panose="02020609040205080304" pitchFamily="49" charset="-128"/>
              <a:cs typeface="Times New Roman" panose="02020603050405020304" pitchFamily="18" charset="0"/>
            </a:endParaRPr>
          </a:p>
          <a:p>
            <a:pPr lvl="0">
              <a:lnSpc>
                <a:spcPct val="120000"/>
              </a:lnSpc>
            </a:pPr>
            <a:r>
              <a:rPr lang="en-IN" sz="4400" dirty="0"/>
              <a:t>This project has been carried out by me during the academic year 2024-2026 under the supervision of </a:t>
            </a:r>
            <a:r>
              <a:rPr lang="en-US" sz="4400" dirty="0"/>
              <a:t>Vikas Kumar </a:t>
            </a:r>
            <a:r>
              <a:rPr lang="en-US" sz="4400" dirty="0" err="1"/>
              <a:t>Atray</a:t>
            </a:r>
            <a:endParaRPr lang="en-US" sz="4400" dirty="0"/>
          </a:p>
          <a:p>
            <a:pPr lvl="0">
              <a:lnSpc>
                <a:spcPct val="120000"/>
              </a:lnSpc>
            </a:pPr>
            <a:r>
              <a:rPr lang="en-IN" sz="4400" dirty="0"/>
              <a:t>The work has not been submitted previously to any other university, institution, or examination body for the award of any degree, diploma, or certification.</a:t>
            </a:r>
            <a:endParaRPr lang="en-US" sz="4400" dirty="0"/>
          </a:p>
          <a:p>
            <a:pPr lvl="0">
              <a:lnSpc>
                <a:spcPct val="120000"/>
              </a:lnSpc>
            </a:pPr>
            <a:r>
              <a:rPr lang="en-IN" sz="4400" dirty="0"/>
              <a:t>All sources of information used in this report have been duly acknowledged and referenced in accordance with academic ethics and plagiarism norms.</a:t>
            </a:r>
            <a:endParaRPr lang="en-US" sz="4400" dirty="0"/>
          </a:p>
          <a:p>
            <a:pPr lvl="0">
              <a:lnSpc>
                <a:spcPct val="120000"/>
              </a:lnSpc>
            </a:pPr>
            <a:r>
              <a:rPr lang="en-IN" sz="4400" dirty="0"/>
              <a:t>The data presented in this report is authentic to the best of my knowledge and has not been fabricated or manipulated.</a:t>
            </a:r>
            <a:endParaRPr lang="en-US" sz="4400" dirty="0"/>
          </a:p>
          <a:p>
            <a:pPr lvl="0">
              <a:lnSpc>
                <a:spcPct val="120000"/>
              </a:lnSpc>
            </a:pPr>
            <a:r>
              <a:rPr lang="en-IN" sz="4400" dirty="0"/>
              <a:t>I understand that if any part of this declaration is found to be false, my project may be rejected and disciplinary action may be taken as per institutional rules.</a:t>
            </a:r>
            <a:endParaRPr lang="en-US" sz="4400" dirty="0"/>
          </a:p>
          <a:p>
            <a:pPr>
              <a:lnSpc>
                <a:spcPct val="120000"/>
              </a:lnSpc>
            </a:pPr>
            <a:r>
              <a:rPr lang="en-IN" sz="4400" dirty="0"/>
              <a:t>Place: Chandigarh</a:t>
            </a:r>
            <a:br>
              <a:rPr lang="en-IN" sz="4400" dirty="0"/>
            </a:br>
            <a:r>
              <a:rPr lang="en-IN" sz="4400" dirty="0"/>
              <a:t>Date: 18/05/2026</a:t>
            </a:r>
            <a:endParaRPr lang="en-US" sz="4400" dirty="0"/>
          </a:p>
          <a:p>
            <a:pPr>
              <a:lnSpc>
                <a:spcPct val="120000"/>
              </a:lnSpc>
            </a:pPr>
            <a:r>
              <a:rPr lang="en-IN" sz="4400" dirty="0"/>
              <a:t>Student Signature: </a:t>
            </a:r>
          </a:p>
          <a:p>
            <a:pPr>
              <a:lnSpc>
                <a:spcPct val="120000"/>
              </a:lnSpc>
            </a:pPr>
            <a:br>
              <a:rPr lang="en-IN" sz="4400" dirty="0"/>
            </a:br>
            <a:r>
              <a:rPr lang="en-IN" sz="4400" dirty="0"/>
              <a:t>Student Name: Mohit Yadav</a:t>
            </a:r>
            <a:br>
              <a:rPr lang="en-IN" sz="4400" dirty="0"/>
            </a:br>
            <a:r>
              <a:rPr lang="en-IN" sz="4400" dirty="0" err="1"/>
              <a:t>Enrollment</a:t>
            </a:r>
            <a:r>
              <a:rPr lang="en-IN" sz="4400" dirty="0"/>
              <a:t> No: </a:t>
            </a:r>
            <a:r>
              <a:rPr lang="en-US" altLang="en-US" sz="4400" dirty="0"/>
              <a:t>024MSD110076</a:t>
            </a:r>
            <a:endParaRPr lang="en-US" sz="4400" dirty="0"/>
          </a:p>
          <a:p>
            <a:endParaRPr dirty="0"/>
          </a:p>
        </p:txBody>
      </p:sp>
      <p:pic>
        <p:nvPicPr>
          <p:cNvPr id="4" name="Picture 3">
            <a:extLst>
              <a:ext uri="{FF2B5EF4-FFF2-40B4-BE49-F238E27FC236}">
                <a16:creationId xmlns:a16="http://schemas.microsoft.com/office/drawing/2014/main" id="{3ED3E0E3-3470-4BDC-BD4F-FFC884B85F35}"/>
              </a:ext>
            </a:extLst>
          </p:cNvPr>
          <p:cNvPicPr>
            <a:picLocks noChangeAspect="1"/>
          </p:cNvPicPr>
          <p:nvPr/>
        </p:nvPicPr>
        <p:blipFill>
          <a:blip r:embed="rId2"/>
          <a:stretch>
            <a:fillRect/>
          </a:stretch>
        </p:blipFill>
        <p:spPr>
          <a:xfrm>
            <a:off x="3766784" y="0"/>
            <a:ext cx="4363059" cy="971686"/>
          </a:xfrm>
          <a:prstGeom prst="rect">
            <a:avLst/>
          </a:prstGeom>
          <a:solidFill>
            <a:schemeClr val="accent1">
              <a:alpha val="50000"/>
            </a:schemeClr>
          </a:solidFill>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46488DE3-0BB1-600A-ED65-F0D717D848EA}"/>
              </a:ext>
            </a:extLst>
          </p:cNvPr>
          <p:cNvPicPr>
            <a:picLocks noChangeAspect="1"/>
          </p:cNvPicPr>
          <p:nvPr/>
        </p:nvPicPr>
        <p:blipFill>
          <a:blip r:embed="rId3"/>
          <a:stretch>
            <a:fillRect/>
          </a:stretch>
        </p:blipFill>
        <p:spPr>
          <a:xfrm>
            <a:off x="2259955" y="5912130"/>
            <a:ext cx="1595755" cy="51716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632" y="1102936"/>
            <a:ext cx="6438507" cy="736016"/>
          </a:xfrm>
        </p:spPr>
        <p:txBody>
          <a:bodyPr/>
          <a:lstStyle/>
          <a:p>
            <a:r>
              <a:rPr dirty="0"/>
              <a:t>Acknowledgement</a:t>
            </a:r>
          </a:p>
        </p:txBody>
      </p:sp>
      <p:sp>
        <p:nvSpPr>
          <p:cNvPr id="3" name="Content Placeholder 2"/>
          <p:cNvSpPr>
            <a:spLocks noGrp="1"/>
          </p:cNvSpPr>
          <p:nvPr>
            <p:ph idx="1"/>
          </p:nvPr>
        </p:nvSpPr>
        <p:spPr>
          <a:xfrm>
            <a:off x="866441" y="2489199"/>
            <a:ext cx="7382824" cy="4088581"/>
          </a:xfrm>
        </p:spPr>
        <p:txBody>
          <a:bodyPr>
            <a:noAutofit/>
          </a:bodyPr>
          <a:lstStyle/>
          <a:p>
            <a:pPr>
              <a:lnSpc>
                <a:spcPct val="150000"/>
              </a:lnSpc>
            </a:pPr>
            <a:r>
              <a:rPr lang="en-US" sz="1600" dirty="0">
                <a:latin typeface="Times New Roman" panose="02020603050405020304" pitchFamily="18" charset="0"/>
                <a:cs typeface="Times New Roman" panose="02020603050405020304" pitchFamily="18" charset="0"/>
              </a:rPr>
              <a:t>I would like to thank Vikas Kumar </a:t>
            </a:r>
            <a:r>
              <a:rPr lang="en-US" sz="1600" dirty="0" err="1">
                <a:latin typeface="Times New Roman" panose="02020603050405020304" pitchFamily="18" charset="0"/>
                <a:cs typeface="Times New Roman" panose="02020603050405020304" pitchFamily="18" charset="0"/>
              </a:rPr>
              <a:t>Atray</a:t>
            </a:r>
            <a:r>
              <a:rPr lang="en-US" sz="1600" dirty="0">
                <a:latin typeface="Times New Roman" panose="02020603050405020304" pitchFamily="18" charset="0"/>
                <a:cs typeface="Times New Roman" panose="02020603050405020304" pitchFamily="18" charset="0"/>
              </a:rPr>
              <a:t> for his regular guidance, feedback and support for the project. He assisted in shaping both the technical and academic aspects of the project.</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I would also like to thank the teaching faculty of the department for creating an academic space, technical environment and idea space to carry out this project. Their courses in data science, statistics, machine learning and system development provided the necessary foundation for the project.</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Thank you to the university for granting me the opportunity to develop a project that is relevant for a business and implementing data science. I also wish to thank my family and friends for their encouragement, support and patience during the period of this project.</a:t>
            </a:r>
            <a:endParaRPr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E16226B-0E49-4720-897D-345827B17E0C}"/>
              </a:ext>
            </a:extLst>
          </p:cNvPr>
          <p:cNvPicPr>
            <a:picLocks noChangeAspect="1"/>
          </p:cNvPicPr>
          <p:nvPr/>
        </p:nvPicPr>
        <p:blipFill>
          <a:blip r:embed="rId2"/>
          <a:stretch>
            <a:fillRect/>
          </a:stretch>
        </p:blipFill>
        <p:spPr>
          <a:xfrm>
            <a:off x="3766784" y="0"/>
            <a:ext cx="4363059" cy="971686"/>
          </a:xfrm>
          <a:prstGeom prst="rect">
            <a:avLst/>
          </a:prstGeom>
          <a:solidFill>
            <a:schemeClr val="accent1">
              <a:alpha val="50000"/>
            </a:schemeClr>
          </a:solidFill>
          <a:ln>
            <a:noFill/>
          </a:ln>
          <a:effectLst>
            <a:outerShdw blurRad="292100" dist="139700" dir="2700000" algn="tl" rotWithShape="0">
              <a:srgbClr val="333333">
                <a:alpha val="65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881562"/>
            <a:ext cx="7055380" cy="971686"/>
          </a:xfrm>
        </p:spPr>
        <p:txBody>
          <a:bodyPr wrap="square">
            <a:noAutofit/>
          </a:bodyPr>
          <a:lstStyle/>
          <a:p>
            <a:r>
              <a:rPr lang="en-IN" sz="2800" b="1" dirty="0">
                <a:solidFill>
                  <a:schemeClr val="bg1"/>
                </a:solidFill>
                <a:latin typeface="Arial" panose="020B0604020202020204" pitchFamily="34" charset="0"/>
              </a:rPr>
              <a:t>Abstract / Executive Summary</a:t>
            </a:r>
            <a:endParaRPr sz="2800" b="1" dirty="0">
              <a:solidFill>
                <a:schemeClr val="bg1"/>
              </a:solidFill>
              <a:latin typeface="Arial" panose="020B0604020202020204" pitchFamily="34" charset="0"/>
            </a:endParaRPr>
          </a:p>
        </p:txBody>
      </p:sp>
      <p:sp>
        <p:nvSpPr>
          <p:cNvPr id="3" name="Content Placeholder 2"/>
          <p:cNvSpPr>
            <a:spLocks noGrp="1"/>
          </p:cNvSpPr>
          <p:nvPr>
            <p:ph idx="1"/>
          </p:nvPr>
        </p:nvSpPr>
        <p:spPr>
          <a:xfrm>
            <a:off x="866139" y="2489200"/>
            <a:ext cx="6343650" cy="3530600"/>
          </a:xfrm>
        </p:spPr>
        <p:txBody>
          <a:bodyPr wrap="square">
            <a:noAutofit/>
          </a:bodyPr>
          <a:lstStyle/>
          <a:p>
            <a:r>
              <a:rPr lang="en-US" sz="1900">
                <a:solidFill>
                  <a:srgbClr val="000000"/>
                </a:solidFill>
                <a:latin typeface="Arial" panose="020B0604020202020204" pitchFamily="34" charset="0"/>
              </a:rPr>
              <a:t>Project forecasts short-term retail demand for store 1</a:t>
            </a:r>
          </a:p>
          <a:p>
            <a:r>
              <a:rPr lang="en-US" sz="1900">
                <a:solidFill>
                  <a:srgbClr val="000000"/>
                </a:solidFill>
                <a:latin typeface="Arial" panose="020B0604020202020204" pitchFamily="34" charset="0"/>
              </a:rPr>
              <a:t>Scope: BEVERAGES, DAIRY and GROCERY I product families</a:t>
            </a:r>
          </a:p>
          <a:p>
            <a:r>
              <a:rPr lang="en-US" sz="1900">
                <a:solidFill>
                  <a:srgbClr val="000000"/>
                </a:solidFill>
                <a:latin typeface="Arial" panose="020B0604020202020204" pitchFamily="34" charset="0"/>
              </a:rPr>
              <a:t>Models compared: seasonal naive, moving average, regression lags, ARIMA and Prophet</a:t>
            </a:r>
          </a:p>
          <a:p>
            <a:r>
              <a:rPr lang="en-US" sz="1900">
                <a:solidFill>
                  <a:srgbClr val="000000"/>
                </a:solidFill>
                <a:latin typeface="Arial" panose="020B0604020202020204" pitchFamily="34" charset="0"/>
              </a:rPr>
              <a:t>Best operational model: lag-based linear regression by RMSE</a:t>
            </a:r>
          </a:p>
          <a:p>
            <a:r>
              <a:rPr lang="en-US" sz="1900">
                <a:solidFill>
                  <a:srgbClr val="000000"/>
                </a:solidFill>
                <a:latin typeface="Arial" panose="020B0604020202020204" pitchFamily="34" charset="0"/>
              </a:rPr>
              <a:t>Forecast output is converted into safety stock, reorder point, order quantity and alerts</a:t>
            </a:r>
            <a:endParaRPr sz="1900" dirty="0">
              <a:solidFill>
                <a:srgbClr val="000000"/>
              </a:solidFill>
              <a:latin typeface="Arial" panose="020B0604020202020204" pitchFamily="34" charset="0"/>
            </a:endParaRPr>
          </a:p>
        </p:txBody>
      </p:sp>
      <p:pic>
        <p:nvPicPr>
          <p:cNvPr id="4" name="Picture 3">
            <a:extLst>
              <a:ext uri="{FF2B5EF4-FFF2-40B4-BE49-F238E27FC236}">
                <a16:creationId xmlns:a16="http://schemas.microsoft.com/office/drawing/2014/main" id="{565ECF71-F41F-41A7-96E4-563C467C2D73}"/>
              </a:ext>
            </a:extLst>
          </p:cNvPr>
          <p:cNvPicPr>
            <a:picLocks noChangeAspect="1"/>
          </p:cNvPicPr>
          <p:nvPr/>
        </p:nvPicPr>
        <p:blipFill>
          <a:blip r:embed="rId2"/>
          <a:stretch>
            <a:fillRect/>
          </a:stretch>
        </p:blipFill>
        <p:spPr>
          <a:xfrm>
            <a:off x="3766784" y="0"/>
            <a:ext cx="4363059" cy="971686"/>
          </a:xfrm>
          <a:prstGeom prst="rect">
            <a:avLst/>
          </a:prstGeom>
          <a:solidFill>
            <a:schemeClr val="accent1">
              <a:alpha val="50000"/>
            </a:schemeClr>
          </a:solidFill>
          <a:ln>
            <a:noFill/>
          </a:ln>
          <a:effectLst>
            <a:outerShdw blurRad="292100" dist="139700" dir="2700000" algn="tl" rotWithShape="0">
              <a:srgbClr val="333333">
                <a:alpha val="65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3888" y="971686"/>
            <a:ext cx="6946201" cy="881562"/>
          </a:xfrm>
        </p:spPr>
        <p:txBody>
          <a:bodyPr wrap="square">
            <a:noAutofit/>
          </a:bodyPr>
          <a:lstStyle/>
          <a:p>
            <a:r>
              <a:rPr lang="en-IN" sz="2800" b="1" dirty="0">
                <a:solidFill>
                  <a:schemeClr val="bg1"/>
                </a:solidFill>
                <a:latin typeface="Arial" panose="020B0604020202020204" pitchFamily="34" charset="0"/>
              </a:rPr>
              <a:t>Presentation Outline</a:t>
            </a:r>
            <a:endParaRPr sz="2800" b="1" dirty="0">
              <a:solidFill>
                <a:schemeClr val="bg1"/>
              </a:solidFill>
              <a:latin typeface="Arial" panose="020B0604020202020204" pitchFamily="34" charset="0"/>
            </a:endParaRPr>
          </a:p>
        </p:txBody>
      </p:sp>
      <p:sp>
        <p:nvSpPr>
          <p:cNvPr id="3" name="Content Placeholder 2"/>
          <p:cNvSpPr>
            <a:spLocks noGrp="1"/>
          </p:cNvSpPr>
          <p:nvPr>
            <p:ph idx="1"/>
          </p:nvPr>
        </p:nvSpPr>
        <p:spPr>
          <a:xfrm>
            <a:off x="866139" y="2489200"/>
            <a:ext cx="6343650" cy="3530600"/>
          </a:xfrm>
        </p:spPr>
        <p:txBody>
          <a:bodyPr wrap="square">
            <a:noAutofit/>
          </a:bodyPr>
          <a:lstStyle/>
          <a:p>
            <a:r>
              <a:rPr lang="en-US" sz="2100">
                <a:solidFill>
                  <a:srgbClr val="000000"/>
                </a:solidFill>
                <a:latin typeface="Arial" panose="020B0604020202020204" pitchFamily="34" charset="0"/>
              </a:rPr>
              <a:t>Introduction and project need</a:t>
            </a:r>
          </a:p>
          <a:p>
            <a:r>
              <a:rPr lang="en-US" sz="2100">
                <a:solidFill>
                  <a:srgbClr val="000000"/>
                </a:solidFill>
                <a:latin typeface="Arial" panose="020B0604020202020204" pitchFamily="34" charset="0"/>
              </a:rPr>
              <a:t>Literature and research gap</a:t>
            </a:r>
          </a:p>
          <a:p>
            <a:r>
              <a:rPr lang="en-US" sz="2100">
                <a:solidFill>
                  <a:srgbClr val="000000"/>
                </a:solidFill>
                <a:latin typeface="Arial" panose="020B0604020202020204" pitchFamily="34" charset="0"/>
              </a:rPr>
              <a:t>Methodology and data preparation</a:t>
            </a:r>
          </a:p>
          <a:p>
            <a:r>
              <a:rPr lang="en-US" sz="2100">
                <a:solidFill>
                  <a:srgbClr val="000000"/>
                </a:solidFill>
                <a:latin typeface="Arial" panose="020B0604020202020204" pitchFamily="34" charset="0"/>
              </a:rPr>
              <a:t>Data analysis and model results</a:t>
            </a:r>
          </a:p>
          <a:p>
            <a:r>
              <a:rPr lang="en-US" sz="2100">
                <a:solidFill>
                  <a:srgbClr val="000000"/>
                </a:solidFill>
                <a:latin typeface="Arial" panose="020B0604020202020204" pitchFamily="34" charset="0"/>
              </a:rPr>
              <a:t>Inventory recommendations, conclusions and future scope</a:t>
            </a:r>
            <a:endParaRPr sz="2100">
              <a:solidFill>
                <a:srgbClr val="000000"/>
              </a:solidFill>
              <a:latin typeface="Arial" panose="020B0604020202020204" pitchFamily="34" charset="0"/>
            </a:endParaRPr>
          </a:p>
        </p:txBody>
      </p:sp>
      <p:pic>
        <p:nvPicPr>
          <p:cNvPr id="4" name="Picture 3">
            <a:extLst>
              <a:ext uri="{FF2B5EF4-FFF2-40B4-BE49-F238E27FC236}">
                <a16:creationId xmlns:a16="http://schemas.microsoft.com/office/drawing/2014/main" id="{BF63415B-BA5F-48C3-AD8A-929A7F6238A5}"/>
              </a:ext>
            </a:extLst>
          </p:cNvPr>
          <p:cNvPicPr>
            <a:picLocks noChangeAspect="1"/>
          </p:cNvPicPr>
          <p:nvPr/>
        </p:nvPicPr>
        <p:blipFill>
          <a:blip r:embed="rId2"/>
          <a:stretch>
            <a:fillRect/>
          </a:stretch>
        </p:blipFill>
        <p:spPr>
          <a:xfrm>
            <a:off x="3766784" y="0"/>
            <a:ext cx="4363059" cy="971686"/>
          </a:xfrm>
          <a:prstGeom prst="rect">
            <a:avLst/>
          </a:prstGeom>
          <a:solidFill>
            <a:schemeClr val="accent1">
              <a:alpha val="50000"/>
            </a:schemeClr>
          </a:solidFill>
          <a:ln>
            <a:noFill/>
          </a:ln>
          <a:effectLst>
            <a:outerShdw blurRad="292100" dist="139700" dir="2700000" algn="tl" rotWithShape="0">
              <a:srgbClr val="333333">
                <a:alpha val="65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9938" y="1112362"/>
            <a:ext cx="7210152" cy="740885"/>
          </a:xfrm>
        </p:spPr>
        <p:txBody>
          <a:bodyPr wrap="square">
            <a:noAutofit/>
          </a:bodyPr>
          <a:lstStyle/>
          <a:p>
            <a:r>
              <a:rPr lang="en-IN" sz="2800" b="1" dirty="0">
                <a:solidFill>
                  <a:schemeClr val="bg1"/>
                </a:solidFill>
                <a:latin typeface="Arial" panose="020B0604020202020204" pitchFamily="34" charset="0"/>
              </a:rPr>
              <a:t>Chapter 1: Introduction</a:t>
            </a:r>
            <a:endParaRPr sz="2800" b="1" dirty="0">
              <a:solidFill>
                <a:schemeClr val="bg1"/>
              </a:solidFill>
              <a:latin typeface="Arial" panose="020B0604020202020204" pitchFamily="34" charset="0"/>
            </a:endParaRPr>
          </a:p>
        </p:txBody>
      </p:sp>
      <p:sp>
        <p:nvSpPr>
          <p:cNvPr id="3" name="Content Placeholder 2"/>
          <p:cNvSpPr>
            <a:spLocks noGrp="1"/>
          </p:cNvSpPr>
          <p:nvPr>
            <p:ph idx="1"/>
          </p:nvPr>
        </p:nvSpPr>
        <p:spPr>
          <a:xfrm>
            <a:off x="866139" y="2489200"/>
            <a:ext cx="6343650" cy="3530600"/>
          </a:xfrm>
        </p:spPr>
        <p:txBody>
          <a:bodyPr wrap="square">
            <a:noAutofit/>
          </a:bodyPr>
          <a:lstStyle/>
          <a:p>
            <a:r>
              <a:rPr lang="en-US" sz="2000">
                <a:solidFill>
                  <a:srgbClr val="000000"/>
                </a:solidFill>
                <a:latin typeface="Arial" panose="020B0604020202020204" pitchFamily="34" charset="0"/>
              </a:rPr>
              <a:t>Retailers face stockouts and overstock when demand is uncertain</a:t>
            </a:r>
          </a:p>
          <a:p>
            <a:r>
              <a:rPr lang="en-US" sz="2000">
                <a:solidFill>
                  <a:srgbClr val="000000"/>
                </a:solidFill>
                <a:latin typeface="Arial" panose="020B0604020202020204" pitchFamily="34" charset="0"/>
              </a:rPr>
              <a:t>This project links demand forecasting with inventory planning</a:t>
            </a:r>
          </a:p>
          <a:p>
            <a:r>
              <a:rPr lang="en-US" sz="2000">
                <a:solidFill>
                  <a:srgbClr val="000000"/>
                </a:solidFill>
                <a:latin typeface="Arial" panose="020B0604020202020204" pitchFamily="34" charset="0"/>
              </a:rPr>
              <a:t>Dataset: Corporacion Favorita grocery sales data</a:t>
            </a:r>
          </a:p>
          <a:p>
            <a:r>
              <a:rPr lang="en-US" sz="2000">
                <a:solidFill>
                  <a:srgbClr val="000000"/>
                </a:solidFill>
                <a:latin typeface="Arial" panose="020B0604020202020204" pitchFamily="34" charset="0"/>
              </a:rPr>
              <a:t>Focused scope keeps the implementation explainable for MSc submission</a:t>
            </a:r>
          </a:p>
          <a:p>
            <a:r>
              <a:rPr lang="en-US" sz="2000">
                <a:solidFill>
                  <a:srgbClr val="000000"/>
                </a:solidFill>
                <a:latin typeface="Arial" panose="020B0604020202020204" pitchFamily="34" charset="0"/>
              </a:rPr>
              <a:t>Output supports reorder decisions and category-wise stock planning</a:t>
            </a:r>
            <a:endParaRPr sz="2000">
              <a:solidFill>
                <a:srgbClr val="000000"/>
              </a:solidFill>
              <a:latin typeface="Arial" panose="020B0604020202020204" pitchFamily="34" charset="0"/>
            </a:endParaRPr>
          </a:p>
        </p:txBody>
      </p:sp>
      <p:pic>
        <p:nvPicPr>
          <p:cNvPr id="4" name="Picture 3">
            <a:extLst>
              <a:ext uri="{FF2B5EF4-FFF2-40B4-BE49-F238E27FC236}">
                <a16:creationId xmlns:a16="http://schemas.microsoft.com/office/drawing/2014/main" id="{5DBBF106-CC45-4A58-BDE6-CEB249F9503E}"/>
              </a:ext>
            </a:extLst>
          </p:cNvPr>
          <p:cNvPicPr>
            <a:picLocks noChangeAspect="1"/>
          </p:cNvPicPr>
          <p:nvPr/>
        </p:nvPicPr>
        <p:blipFill>
          <a:blip r:embed="rId2"/>
          <a:stretch>
            <a:fillRect/>
          </a:stretch>
        </p:blipFill>
        <p:spPr>
          <a:xfrm>
            <a:off x="3766784" y="0"/>
            <a:ext cx="4363059" cy="971686"/>
          </a:xfrm>
          <a:prstGeom prst="rect">
            <a:avLst/>
          </a:prstGeom>
          <a:solidFill>
            <a:schemeClr val="accent1">
              <a:alpha val="50000"/>
            </a:schemeClr>
          </a:solidFill>
          <a:ln>
            <a:noFill/>
          </a:ln>
          <a:effectLst>
            <a:outerShdw blurRad="292100" dist="139700" dir="2700000" algn="tl" rotWithShape="0">
              <a:srgbClr val="333333">
                <a:alpha val="65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971686"/>
            <a:ext cx="7055380" cy="881562"/>
          </a:xfrm>
        </p:spPr>
        <p:txBody>
          <a:bodyPr wrap="square">
            <a:noAutofit/>
          </a:bodyPr>
          <a:lstStyle/>
          <a:p>
            <a:r>
              <a:rPr lang="en-IN" sz="2800" b="1" dirty="0">
                <a:solidFill>
                  <a:schemeClr val="bg1"/>
                </a:solidFill>
                <a:latin typeface="Arial" panose="020B0604020202020204" pitchFamily="34" charset="0"/>
              </a:rPr>
              <a:t>Chapter 2: Literature Review</a:t>
            </a:r>
            <a:endParaRPr sz="2800" b="1" dirty="0">
              <a:solidFill>
                <a:schemeClr val="bg1"/>
              </a:solidFill>
              <a:latin typeface="Arial" panose="020B0604020202020204" pitchFamily="34" charset="0"/>
            </a:endParaRPr>
          </a:p>
        </p:txBody>
      </p:sp>
      <p:sp>
        <p:nvSpPr>
          <p:cNvPr id="3" name="Content Placeholder 2"/>
          <p:cNvSpPr>
            <a:spLocks noGrp="1"/>
          </p:cNvSpPr>
          <p:nvPr>
            <p:ph idx="1"/>
          </p:nvPr>
        </p:nvSpPr>
        <p:spPr>
          <a:xfrm>
            <a:off x="866140" y="2489200"/>
            <a:ext cx="6343650" cy="3530600"/>
          </a:xfrm>
        </p:spPr>
        <p:txBody>
          <a:bodyPr wrap="square">
            <a:noAutofit/>
          </a:bodyPr>
          <a:lstStyle/>
          <a:p>
            <a:r>
              <a:rPr lang="en-US" sz="2000">
                <a:solidFill>
                  <a:srgbClr val="000000"/>
                </a:solidFill>
                <a:latin typeface="Arial" panose="020B0604020202020204" pitchFamily="34" charset="0"/>
              </a:rPr>
              <a:t>Classical forecasting methods give explainable baselines</a:t>
            </a:r>
          </a:p>
          <a:p>
            <a:r>
              <a:rPr lang="en-US" sz="2000">
                <a:solidFill>
                  <a:srgbClr val="000000"/>
                </a:solidFill>
                <a:latin typeface="Arial" panose="020B0604020202020204" pitchFamily="34" charset="0"/>
              </a:rPr>
              <a:t>Feature-based ML can use lag values, rolling means and calendar signals</a:t>
            </a:r>
          </a:p>
          <a:p>
            <a:r>
              <a:rPr lang="en-US" sz="2000">
                <a:solidFill>
                  <a:srgbClr val="000000"/>
                </a:solidFill>
                <a:latin typeface="Arial" panose="020B0604020202020204" pitchFamily="34" charset="0"/>
              </a:rPr>
              <a:t>Prophet and ARIMA are useful comparison models for time-series forecasting</a:t>
            </a:r>
          </a:p>
          <a:p>
            <a:r>
              <a:rPr lang="en-US" sz="2000">
                <a:solidFill>
                  <a:srgbClr val="000000"/>
                </a:solidFill>
                <a:latin typeface="Arial" panose="020B0604020202020204" pitchFamily="34" charset="0"/>
              </a:rPr>
              <a:t>Research gap: many forecasting projects stop at accuracy metrics</a:t>
            </a:r>
          </a:p>
          <a:p>
            <a:r>
              <a:rPr lang="en-US" sz="2000">
                <a:solidFill>
                  <a:srgbClr val="000000"/>
                </a:solidFill>
                <a:latin typeface="Arial" panose="020B0604020202020204" pitchFamily="34" charset="0"/>
              </a:rPr>
              <a:t>This project continues from prediction to inventory action</a:t>
            </a:r>
            <a:endParaRPr sz="2000">
              <a:solidFill>
                <a:srgbClr val="000000"/>
              </a:solidFill>
              <a:latin typeface="Arial" panose="020B0604020202020204" pitchFamily="34" charset="0"/>
            </a:endParaRPr>
          </a:p>
        </p:txBody>
      </p:sp>
      <p:pic>
        <p:nvPicPr>
          <p:cNvPr id="4" name="Picture 3">
            <a:extLst>
              <a:ext uri="{FF2B5EF4-FFF2-40B4-BE49-F238E27FC236}">
                <a16:creationId xmlns:a16="http://schemas.microsoft.com/office/drawing/2014/main" id="{3E8251B1-0135-4920-BF70-0641FCBF57B8}"/>
              </a:ext>
            </a:extLst>
          </p:cNvPr>
          <p:cNvPicPr>
            <a:picLocks noChangeAspect="1"/>
          </p:cNvPicPr>
          <p:nvPr/>
        </p:nvPicPr>
        <p:blipFill>
          <a:blip r:embed="rId2"/>
          <a:stretch>
            <a:fillRect/>
          </a:stretch>
        </p:blipFill>
        <p:spPr>
          <a:xfrm>
            <a:off x="3766784" y="0"/>
            <a:ext cx="4363059" cy="971686"/>
          </a:xfrm>
          <a:prstGeom prst="rect">
            <a:avLst/>
          </a:prstGeom>
          <a:solidFill>
            <a:schemeClr val="accent1">
              <a:alpha val="50000"/>
            </a:schemeClr>
          </a:solidFill>
          <a:ln>
            <a:noFill/>
          </a:ln>
          <a:effectLst>
            <a:outerShdw blurRad="292100" dist="139700" dir="2700000" algn="tl" rotWithShape="0">
              <a:srgbClr val="333333">
                <a:alpha val="65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085" y="971686"/>
            <a:ext cx="7229005" cy="881562"/>
          </a:xfrm>
        </p:spPr>
        <p:txBody>
          <a:bodyPr wrap="square">
            <a:noAutofit/>
          </a:bodyPr>
          <a:lstStyle/>
          <a:p>
            <a:r>
              <a:rPr lang="en-IN" sz="2800" b="1" dirty="0">
                <a:solidFill>
                  <a:schemeClr val="bg1"/>
                </a:solidFill>
                <a:latin typeface="Arial" panose="020B0604020202020204" pitchFamily="34" charset="0"/>
              </a:rPr>
              <a:t>Chapter 3: Research Methodology</a:t>
            </a:r>
            <a:endParaRPr sz="2800" b="1" dirty="0">
              <a:solidFill>
                <a:schemeClr val="bg1"/>
              </a:solidFill>
              <a:latin typeface="Arial" panose="020B0604020202020204" pitchFamily="34" charset="0"/>
            </a:endParaRPr>
          </a:p>
        </p:txBody>
      </p:sp>
      <p:sp>
        <p:nvSpPr>
          <p:cNvPr id="3" name="Content Placeholder 2"/>
          <p:cNvSpPr>
            <a:spLocks noGrp="1"/>
          </p:cNvSpPr>
          <p:nvPr>
            <p:ph idx="1"/>
          </p:nvPr>
        </p:nvSpPr>
        <p:spPr>
          <a:xfrm>
            <a:off x="866140" y="2489200"/>
            <a:ext cx="6343650" cy="3530600"/>
          </a:xfrm>
        </p:spPr>
        <p:txBody>
          <a:bodyPr wrap="square">
            <a:noAutofit/>
          </a:bodyPr>
          <a:lstStyle/>
          <a:p>
            <a:r>
              <a:rPr lang="en-US" sz="2000">
                <a:solidFill>
                  <a:srgbClr val="000000"/>
                </a:solidFill>
                <a:latin typeface="Arial" panose="020B0604020202020204" pitchFamily="34" charset="0"/>
              </a:rPr>
              <a:t>Raw files merged: sales, items, stores, transactions, oil and holidays</a:t>
            </a:r>
          </a:p>
          <a:p>
            <a:r>
              <a:rPr lang="en-US" sz="2000">
                <a:solidFill>
                  <a:srgbClr val="000000"/>
                </a:solidFill>
                <a:latin typeface="Arial" panose="020B0604020202020204" pitchFamily="34" charset="0"/>
              </a:rPr>
              <a:t>Analysis filtered to store 1 and three selected families</a:t>
            </a:r>
          </a:p>
          <a:p>
            <a:r>
              <a:rPr lang="en-US" sz="2000">
                <a:solidFill>
                  <a:srgbClr val="000000"/>
                </a:solidFill>
                <a:latin typeface="Arial" panose="020B0604020202020204" pitchFamily="34" charset="0"/>
              </a:rPr>
              <a:t>Features created: lag sales, rolling averages and calendar variables</a:t>
            </a:r>
          </a:p>
          <a:p>
            <a:r>
              <a:rPr lang="en-US" sz="2000">
                <a:solidFill>
                  <a:srgbClr val="000000"/>
                </a:solidFill>
                <a:latin typeface="Arial" panose="020B0604020202020204" pitchFamily="34" charset="0"/>
              </a:rPr>
              <a:t>Chronological train-test split used for realistic forecasting</a:t>
            </a:r>
          </a:p>
          <a:p>
            <a:r>
              <a:rPr lang="en-US" sz="2000">
                <a:solidFill>
                  <a:srgbClr val="000000"/>
                </a:solidFill>
                <a:latin typeface="Arial" panose="020B0604020202020204" pitchFamily="34" charset="0"/>
              </a:rPr>
              <a:t>Metrics: MAE, RMSE and MAPE</a:t>
            </a:r>
            <a:endParaRPr sz="2000" dirty="0">
              <a:solidFill>
                <a:srgbClr val="000000"/>
              </a:solidFill>
              <a:latin typeface="Arial" panose="020B0604020202020204" pitchFamily="34" charset="0"/>
            </a:endParaRPr>
          </a:p>
        </p:txBody>
      </p:sp>
      <p:pic>
        <p:nvPicPr>
          <p:cNvPr id="4" name="Picture 3">
            <a:extLst>
              <a:ext uri="{FF2B5EF4-FFF2-40B4-BE49-F238E27FC236}">
                <a16:creationId xmlns:a16="http://schemas.microsoft.com/office/drawing/2014/main" id="{BA05FCEE-0448-48DA-A289-7890BB56B7EA}"/>
              </a:ext>
            </a:extLst>
          </p:cNvPr>
          <p:cNvPicPr>
            <a:picLocks noChangeAspect="1"/>
          </p:cNvPicPr>
          <p:nvPr/>
        </p:nvPicPr>
        <p:blipFill>
          <a:blip r:embed="rId2"/>
          <a:stretch>
            <a:fillRect/>
          </a:stretch>
        </p:blipFill>
        <p:spPr>
          <a:xfrm>
            <a:off x="3766784" y="0"/>
            <a:ext cx="4363059" cy="971686"/>
          </a:xfrm>
          <a:prstGeom prst="rect">
            <a:avLst/>
          </a:prstGeom>
          <a:solidFill>
            <a:schemeClr val="accent1">
              <a:alpha val="50000"/>
            </a:schemeClr>
          </a:solidFill>
          <a:ln>
            <a:noFill/>
          </a:ln>
          <a:effectLst>
            <a:outerShdw blurRad="292100" dist="139700" dir="2700000" algn="tl" rotWithShape="0">
              <a:srgbClr val="333333">
                <a:alpha val="65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462" y="1159496"/>
            <a:ext cx="6955628" cy="693751"/>
          </a:xfrm>
        </p:spPr>
        <p:txBody>
          <a:bodyPr wrap="square">
            <a:noAutofit/>
          </a:bodyPr>
          <a:lstStyle/>
          <a:p>
            <a:r>
              <a:rPr lang="en-IN" sz="2800" b="1" dirty="0">
                <a:solidFill>
                  <a:schemeClr val="bg1"/>
                </a:solidFill>
                <a:latin typeface="Arial" panose="020B0604020202020204" pitchFamily="34" charset="0"/>
              </a:rPr>
              <a:t>Chapter 4: Data Analysis &amp; Interpretation</a:t>
            </a:r>
            <a:endParaRPr sz="2800" b="1" dirty="0">
              <a:solidFill>
                <a:schemeClr val="bg1"/>
              </a:solidFill>
              <a:latin typeface="Arial" panose="020B0604020202020204" pitchFamily="34" charset="0"/>
            </a:endParaRPr>
          </a:p>
        </p:txBody>
      </p:sp>
      <p:sp>
        <p:nvSpPr>
          <p:cNvPr id="3" name="Content Placeholder 2"/>
          <p:cNvSpPr>
            <a:spLocks noGrp="1"/>
          </p:cNvSpPr>
          <p:nvPr>
            <p:ph idx="1"/>
          </p:nvPr>
        </p:nvSpPr>
        <p:spPr>
          <a:xfrm>
            <a:off x="571500" y="2349500"/>
            <a:ext cx="2730500" cy="1460500"/>
          </a:xfrm>
        </p:spPr>
        <p:txBody>
          <a:bodyPr wrap="square">
            <a:noAutofit/>
          </a:bodyPr>
          <a:lstStyle/>
          <a:p>
            <a:r>
              <a:rPr lang="en-US" sz="1400">
                <a:solidFill>
                  <a:srgbClr val="000000"/>
                </a:solidFill>
                <a:latin typeface="Arial" panose="020B0604020202020204" pitchFamily="34" charset="0"/>
              </a:rPr>
              <a:t>Family-wise demand varies clearly</a:t>
            </a:r>
          </a:p>
          <a:p>
            <a:r>
              <a:rPr lang="en-US" sz="1400">
                <a:solidFill>
                  <a:srgbClr val="000000"/>
                </a:solidFill>
                <a:latin typeface="Arial" panose="020B0604020202020204" pitchFamily="34" charset="0"/>
              </a:rPr>
              <a:t>GROCERY I has the highest volume</a:t>
            </a:r>
          </a:p>
          <a:p>
            <a:r>
              <a:rPr lang="en-US" sz="1400">
                <a:solidFill>
                  <a:srgbClr val="000000"/>
                </a:solidFill>
                <a:latin typeface="Arial" panose="020B0604020202020204" pitchFamily="34" charset="0"/>
              </a:rPr>
              <a:t>Beverages and Dairy require separate stock rules</a:t>
            </a:r>
            <a:endParaRPr sz="1400" dirty="0">
              <a:solidFill>
                <a:srgbClr val="000000"/>
              </a:solidFill>
              <a:latin typeface="Arial" panose="020B0604020202020204" pitchFamily="34" charset="0"/>
            </a:endParaRPr>
          </a:p>
        </p:txBody>
      </p:sp>
      <p:pic>
        <p:nvPicPr>
          <p:cNvPr id="4" name="Picture 3">
            <a:extLst>
              <a:ext uri="{FF2B5EF4-FFF2-40B4-BE49-F238E27FC236}">
                <a16:creationId xmlns:a16="http://schemas.microsoft.com/office/drawing/2014/main" id="{1A42B36C-9FA0-4290-8CA9-7C0AA5BD70E6}"/>
              </a:ext>
            </a:extLst>
          </p:cNvPr>
          <p:cNvPicPr>
            <a:picLocks noChangeAspect="1"/>
          </p:cNvPicPr>
          <p:nvPr/>
        </p:nvPicPr>
        <p:blipFill>
          <a:blip r:embed="rId2"/>
          <a:stretch>
            <a:fillRect/>
          </a:stretch>
        </p:blipFill>
        <p:spPr>
          <a:xfrm>
            <a:off x="3766784" y="0"/>
            <a:ext cx="4363059" cy="971686"/>
          </a:xfrm>
          <a:prstGeom prst="rect">
            <a:avLst/>
          </a:prstGeom>
          <a:solidFill>
            <a:schemeClr val="accent1">
              <a:alpha val="50000"/>
            </a:schemeClr>
          </a:solidFill>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30486DA3-968D-7B9F-65FA-B1F9DA26DF4D}"/>
              </a:ext>
            </a:extLst>
          </p:cNvPr>
          <p:cNvPicPr>
            <a:picLocks noChangeAspect="1"/>
          </p:cNvPicPr>
          <p:nvPr/>
        </p:nvPicPr>
        <p:blipFill>
          <a:blip r:embed="rId3"/>
          <a:stretch>
            <a:fillRect/>
          </a:stretch>
        </p:blipFill>
        <p:spPr>
          <a:xfrm>
            <a:off x="584462" y="3972232"/>
            <a:ext cx="7959769" cy="266454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6499" y="1159496"/>
            <a:ext cx="7153591" cy="693751"/>
          </a:xfrm>
        </p:spPr>
        <p:txBody>
          <a:bodyPr wrap="square">
            <a:noAutofit/>
          </a:bodyPr>
          <a:lstStyle/>
          <a:p>
            <a:r>
              <a:rPr lang="en-IN" sz="2800" b="1" dirty="0">
                <a:solidFill>
                  <a:schemeClr val="bg1"/>
                </a:solidFill>
                <a:latin typeface="Arial" panose="020B0604020202020204" pitchFamily="34" charset="0"/>
              </a:rPr>
              <a:t>Chapter 5: Findings / Results</a:t>
            </a:r>
            <a:endParaRPr sz="2800" b="1" dirty="0">
              <a:solidFill>
                <a:schemeClr val="bg1"/>
              </a:solidFill>
              <a:latin typeface="Arial" panose="020B0604020202020204" pitchFamily="34" charset="0"/>
            </a:endParaRPr>
          </a:p>
        </p:txBody>
      </p:sp>
      <p:sp>
        <p:nvSpPr>
          <p:cNvPr id="3" name="Content Placeholder 2"/>
          <p:cNvSpPr>
            <a:spLocks noGrp="1"/>
          </p:cNvSpPr>
          <p:nvPr>
            <p:ph idx="1"/>
          </p:nvPr>
        </p:nvSpPr>
        <p:spPr>
          <a:xfrm>
            <a:off x="5016500" y="2603500"/>
            <a:ext cx="3238500" cy="2032000"/>
          </a:xfrm>
        </p:spPr>
        <p:txBody>
          <a:bodyPr wrap="square">
            <a:noAutofit/>
          </a:bodyPr>
          <a:lstStyle/>
          <a:p>
            <a:r>
              <a:rPr lang="en-US" sz="1600">
                <a:solidFill>
                  <a:srgbClr val="000000"/>
                </a:solidFill>
                <a:latin typeface="Arial" panose="020B0604020202020204" pitchFamily="34" charset="0"/>
              </a:rPr>
              <a:t>Best model by RMSE: linear_regression_lags</a:t>
            </a:r>
          </a:p>
          <a:p>
            <a:r>
              <a:rPr lang="en-US" sz="1600">
                <a:solidFill>
                  <a:srgbClr val="000000"/>
                </a:solidFill>
                <a:latin typeface="Arial" panose="020B0604020202020204" pitchFamily="34" charset="0"/>
              </a:rPr>
              <a:t>Best RMSE: 290.328</a:t>
            </a:r>
          </a:p>
          <a:p>
            <a:r>
              <a:rPr lang="en-US" sz="1600">
                <a:solidFill>
                  <a:srgbClr val="000000"/>
                </a:solidFill>
                <a:latin typeface="Arial" panose="020B0604020202020204" pitchFamily="34" charset="0"/>
              </a:rPr>
              <a:t>Prophet achieved lowest MAPE but higher RMSE</a:t>
            </a:r>
          </a:p>
          <a:p>
            <a:r>
              <a:rPr lang="en-US" sz="1600">
                <a:solidFill>
                  <a:srgbClr val="000000"/>
                </a:solidFill>
                <a:latin typeface="Arial" panose="020B0604020202020204" pitchFamily="34" charset="0"/>
              </a:rPr>
              <a:t>RMSE was selected for stock-planning model choice</a:t>
            </a:r>
            <a:endParaRPr sz="1600" dirty="0">
              <a:solidFill>
                <a:srgbClr val="000000"/>
              </a:solidFill>
              <a:latin typeface="Arial" panose="020B0604020202020204" pitchFamily="34" charset="0"/>
            </a:endParaRPr>
          </a:p>
        </p:txBody>
      </p:sp>
      <p:pic>
        <p:nvPicPr>
          <p:cNvPr id="4" name="Picture 3">
            <a:extLst>
              <a:ext uri="{FF2B5EF4-FFF2-40B4-BE49-F238E27FC236}">
                <a16:creationId xmlns:a16="http://schemas.microsoft.com/office/drawing/2014/main" id="{76D8BA17-2268-49D8-850D-7F9FAD2E0813}"/>
              </a:ext>
            </a:extLst>
          </p:cNvPr>
          <p:cNvPicPr>
            <a:picLocks noChangeAspect="1"/>
          </p:cNvPicPr>
          <p:nvPr/>
        </p:nvPicPr>
        <p:blipFill>
          <a:blip r:embed="rId2"/>
          <a:stretch>
            <a:fillRect/>
          </a:stretch>
        </p:blipFill>
        <p:spPr>
          <a:xfrm>
            <a:off x="3766784" y="0"/>
            <a:ext cx="4363059" cy="971686"/>
          </a:xfrm>
          <a:prstGeom prst="rect">
            <a:avLst/>
          </a:prstGeom>
          <a:solidFill>
            <a:schemeClr val="accent1">
              <a:alpha val="50000"/>
            </a:schemeClr>
          </a:solidFill>
          <a:ln>
            <a:noFill/>
          </a:ln>
          <a:effectLst>
            <a:outerShdw blurRad="292100" dist="139700" dir="2700000" algn="tl" rotWithShape="0">
              <a:srgbClr val="333333">
                <a:alpha val="65000"/>
              </a:srgbClr>
            </a:outerShdw>
          </a:effectLst>
        </p:spPr>
      </p:pic>
      <p:graphicFrame>
        <p:nvGraphicFramePr>
          <p:cNvPr id="5" name="Table 4">
            <a:extLst>
              <a:ext uri="{FF2B5EF4-FFF2-40B4-BE49-F238E27FC236}">
                <a16:creationId xmlns:a16="http://schemas.microsoft.com/office/drawing/2014/main" id="{B33F61D0-A270-2D1B-31CD-7C705BE7120A}"/>
              </a:ext>
            </a:extLst>
          </p:cNvPr>
          <p:cNvGraphicFramePr>
            <a:graphicFrameLocks noGrp="1"/>
          </p:cNvGraphicFramePr>
          <p:nvPr>
            <p:extLst>
              <p:ext uri="{D42A27DB-BD31-4B8C-83A1-F6EECF244321}">
                <p14:modId xmlns:p14="http://schemas.microsoft.com/office/powerpoint/2010/main" val="3794905790"/>
              </p:ext>
            </p:extLst>
          </p:nvPr>
        </p:nvGraphicFramePr>
        <p:xfrm>
          <a:off x="698500" y="2603500"/>
          <a:ext cx="3810000" cy="1520190"/>
        </p:xfrm>
        <a:graphic>
          <a:graphicData uri="http://schemas.openxmlformats.org/drawingml/2006/table">
            <a:tbl>
              <a:tblPr firstRow="1" bandRow="1">
                <a:tableStyleId>{5C22544A-7EE6-4342-B048-85BDC9FD1C3A}</a:tableStyleId>
              </a:tblPr>
              <a:tblGrid>
                <a:gridCol w="1270000">
                  <a:extLst>
                    <a:ext uri="{9D8B030D-6E8A-4147-A177-3AD203B41FA5}">
                      <a16:colId xmlns:a16="http://schemas.microsoft.com/office/drawing/2014/main" val="2153418908"/>
                    </a:ext>
                  </a:extLst>
                </a:gridCol>
                <a:gridCol w="1270000">
                  <a:extLst>
                    <a:ext uri="{9D8B030D-6E8A-4147-A177-3AD203B41FA5}">
                      <a16:colId xmlns:a16="http://schemas.microsoft.com/office/drawing/2014/main" val="227603642"/>
                    </a:ext>
                  </a:extLst>
                </a:gridCol>
                <a:gridCol w="1270000">
                  <a:extLst>
                    <a:ext uri="{9D8B030D-6E8A-4147-A177-3AD203B41FA5}">
                      <a16:colId xmlns:a16="http://schemas.microsoft.com/office/drawing/2014/main" val="3599467387"/>
                    </a:ext>
                  </a:extLst>
                </a:gridCol>
              </a:tblGrid>
              <a:tr h="374650">
                <a:tc>
                  <a:txBody>
                    <a:bodyPr/>
                    <a:lstStyle/>
                    <a:p>
                      <a:r>
                        <a:rPr lang="en-IN" sz="1000" b="1">
                          <a:latin typeface="Arial" panose="020B0604020202020204" pitchFamily="34" charset="0"/>
                        </a:rPr>
                        <a:t>Model</a:t>
                      </a:r>
                    </a:p>
                  </a:txBody>
                  <a:tcPr>
                    <a:solidFill>
                      <a:srgbClr val="0070C0"/>
                    </a:solidFill>
                  </a:tcPr>
                </a:tc>
                <a:tc>
                  <a:txBody>
                    <a:bodyPr/>
                    <a:lstStyle/>
                    <a:p>
                      <a:r>
                        <a:rPr lang="en-IN" sz="1000" b="1">
                          <a:latin typeface="Arial" panose="020B0604020202020204" pitchFamily="34" charset="0"/>
                        </a:rPr>
                        <a:t>RMSE</a:t>
                      </a:r>
                    </a:p>
                  </a:txBody>
                  <a:tcPr>
                    <a:solidFill>
                      <a:srgbClr val="0070C0"/>
                    </a:solidFill>
                  </a:tcPr>
                </a:tc>
                <a:tc>
                  <a:txBody>
                    <a:bodyPr/>
                    <a:lstStyle/>
                    <a:p>
                      <a:r>
                        <a:rPr lang="en-IN" sz="1000" b="1">
                          <a:latin typeface="Arial" panose="020B0604020202020204" pitchFamily="34" charset="0"/>
                        </a:rPr>
                        <a:t>MAPE</a:t>
                      </a:r>
                    </a:p>
                  </a:txBody>
                  <a:tcPr>
                    <a:solidFill>
                      <a:srgbClr val="0070C0"/>
                    </a:solidFill>
                  </a:tcPr>
                </a:tc>
                <a:extLst>
                  <a:ext uri="{0D108BD9-81ED-4DB2-BD59-A6C34878D82A}">
                    <a16:rowId xmlns:a16="http://schemas.microsoft.com/office/drawing/2014/main" val="2892679967"/>
                  </a:ext>
                </a:extLst>
              </a:tr>
              <a:tr h="374650">
                <a:tc>
                  <a:txBody>
                    <a:bodyPr/>
                    <a:lstStyle/>
                    <a:p>
                      <a:r>
                        <a:rPr lang="en-IN" sz="1000">
                          <a:latin typeface="Arial" panose="020B0604020202020204" pitchFamily="34" charset="0"/>
                        </a:rPr>
                        <a:t>Linear Regression Lags</a:t>
                      </a:r>
                    </a:p>
                  </a:txBody>
                  <a:tcPr/>
                </a:tc>
                <a:tc>
                  <a:txBody>
                    <a:bodyPr/>
                    <a:lstStyle/>
                    <a:p>
                      <a:r>
                        <a:rPr lang="en-IN" sz="1000">
                          <a:latin typeface="Arial" panose="020B0604020202020204" pitchFamily="34" charset="0"/>
                        </a:rPr>
                        <a:t>290.328</a:t>
                      </a:r>
                    </a:p>
                  </a:txBody>
                  <a:tcPr/>
                </a:tc>
                <a:tc>
                  <a:txBody>
                    <a:bodyPr/>
                    <a:lstStyle/>
                    <a:p>
                      <a:r>
                        <a:rPr lang="en-IN" sz="1000">
                          <a:latin typeface="Arial" panose="020B0604020202020204" pitchFamily="34" charset="0"/>
                        </a:rPr>
                        <a:t>17.860</a:t>
                      </a:r>
                    </a:p>
                  </a:txBody>
                  <a:tcPr/>
                </a:tc>
                <a:extLst>
                  <a:ext uri="{0D108BD9-81ED-4DB2-BD59-A6C34878D82A}">
                    <a16:rowId xmlns:a16="http://schemas.microsoft.com/office/drawing/2014/main" val="521409077"/>
                  </a:ext>
                </a:extLst>
              </a:tr>
              <a:tr h="374650">
                <a:tc>
                  <a:txBody>
                    <a:bodyPr/>
                    <a:lstStyle/>
                    <a:p>
                      <a:r>
                        <a:rPr lang="en-IN" sz="1000">
                          <a:latin typeface="Arial" panose="020B0604020202020204" pitchFamily="34" charset="0"/>
                        </a:rPr>
                        <a:t>Prophet</a:t>
                      </a:r>
                    </a:p>
                  </a:txBody>
                  <a:tcPr/>
                </a:tc>
                <a:tc>
                  <a:txBody>
                    <a:bodyPr/>
                    <a:lstStyle/>
                    <a:p>
                      <a:r>
                        <a:rPr lang="en-IN" sz="1000">
                          <a:latin typeface="Arial" panose="020B0604020202020204" pitchFamily="34" charset="0"/>
                        </a:rPr>
                        <a:t>311.009</a:t>
                      </a:r>
                    </a:p>
                  </a:txBody>
                  <a:tcPr/>
                </a:tc>
                <a:tc>
                  <a:txBody>
                    <a:bodyPr/>
                    <a:lstStyle/>
                    <a:p>
                      <a:r>
                        <a:rPr lang="en-IN" sz="1000">
                          <a:latin typeface="Arial" panose="020B0604020202020204" pitchFamily="34" charset="0"/>
                        </a:rPr>
                        <a:t>14.123</a:t>
                      </a:r>
                    </a:p>
                  </a:txBody>
                  <a:tcPr/>
                </a:tc>
                <a:extLst>
                  <a:ext uri="{0D108BD9-81ED-4DB2-BD59-A6C34878D82A}">
                    <a16:rowId xmlns:a16="http://schemas.microsoft.com/office/drawing/2014/main" val="2976760599"/>
                  </a:ext>
                </a:extLst>
              </a:tr>
              <a:tr h="374650">
                <a:tc>
                  <a:txBody>
                    <a:bodyPr/>
                    <a:lstStyle/>
                    <a:p>
                      <a:r>
                        <a:rPr lang="en-IN" sz="1000">
                          <a:latin typeface="Arial" panose="020B0604020202020204" pitchFamily="34" charset="0"/>
                        </a:rPr>
                        <a:t>Seasonal Naive</a:t>
                      </a:r>
                    </a:p>
                  </a:txBody>
                  <a:tcPr/>
                </a:tc>
                <a:tc>
                  <a:txBody>
                    <a:bodyPr/>
                    <a:lstStyle/>
                    <a:p>
                      <a:r>
                        <a:rPr lang="en-IN" sz="1000">
                          <a:latin typeface="Arial" panose="020B0604020202020204" pitchFamily="34" charset="0"/>
                        </a:rPr>
                        <a:t>405.221</a:t>
                      </a:r>
                    </a:p>
                  </a:txBody>
                  <a:tcPr/>
                </a:tc>
                <a:tc>
                  <a:txBody>
                    <a:bodyPr/>
                    <a:lstStyle/>
                    <a:p>
                      <a:r>
                        <a:rPr lang="en-IN" sz="1000">
                          <a:latin typeface="Arial" panose="020B0604020202020204" pitchFamily="34" charset="0"/>
                        </a:rPr>
                        <a:t>13.945</a:t>
                      </a:r>
                    </a:p>
                  </a:txBody>
                  <a:tcPr/>
                </a:tc>
                <a:extLst>
                  <a:ext uri="{0D108BD9-81ED-4DB2-BD59-A6C34878D82A}">
                    <a16:rowId xmlns:a16="http://schemas.microsoft.com/office/drawing/2014/main" val="43964287"/>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1093508"/>
            <a:ext cx="7055380" cy="759739"/>
          </a:xfrm>
        </p:spPr>
        <p:txBody>
          <a:bodyPr wrap="square">
            <a:noAutofit/>
          </a:bodyPr>
          <a:lstStyle/>
          <a:p>
            <a:r>
              <a:rPr lang="en-IN" sz="2800" b="1" dirty="0">
                <a:solidFill>
                  <a:schemeClr val="bg1"/>
                </a:solidFill>
                <a:latin typeface="Arial" panose="020B0604020202020204" pitchFamily="34" charset="0"/>
              </a:rPr>
              <a:t>Chapter 6: Conclusions</a:t>
            </a:r>
            <a:endParaRPr sz="2800" b="1" dirty="0">
              <a:solidFill>
                <a:schemeClr val="bg1"/>
              </a:solidFill>
              <a:latin typeface="Arial" panose="020B0604020202020204" pitchFamily="34" charset="0"/>
            </a:endParaRPr>
          </a:p>
        </p:txBody>
      </p:sp>
      <p:sp>
        <p:nvSpPr>
          <p:cNvPr id="3" name="Content Placeholder 2"/>
          <p:cNvSpPr>
            <a:spLocks noGrp="1"/>
          </p:cNvSpPr>
          <p:nvPr>
            <p:ph idx="1"/>
          </p:nvPr>
        </p:nvSpPr>
        <p:spPr>
          <a:xfrm>
            <a:off x="866139" y="2489200"/>
            <a:ext cx="6343650" cy="3530600"/>
          </a:xfrm>
        </p:spPr>
        <p:txBody>
          <a:bodyPr wrap="square">
            <a:noAutofit/>
          </a:bodyPr>
          <a:lstStyle/>
          <a:p>
            <a:r>
              <a:rPr lang="en-US" sz="2000" dirty="0">
                <a:solidFill>
                  <a:srgbClr val="000000"/>
                </a:solidFill>
                <a:latin typeface="Arial" panose="020B0604020202020204" pitchFamily="34" charset="0"/>
              </a:rPr>
              <a:t>The project successfully connects forecasting with inventory decisions</a:t>
            </a:r>
          </a:p>
          <a:p>
            <a:r>
              <a:rPr lang="en-US" sz="2000" dirty="0">
                <a:solidFill>
                  <a:srgbClr val="000000"/>
                </a:solidFill>
                <a:latin typeface="Arial" panose="020B0604020202020204" pitchFamily="34" charset="0"/>
              </a:rPr>
              <a:t>Lag-based regression gave the most suitable operational forecast in the current run</a:t>
            </a:r>
          </a:p>
          <a:p>
            <a:r>
              <a:rPr lang="en-US" sz="2000" dirty="0">
                <a:solidFill>
                  <a:srgbClr val="000000"/>
                </a:solidFill>
                <a:latin typeface="Arial" panose="020B0604020202020204" pitchFamily="34" charset="0"/>
              </a:rPr>
              <a:t>Inventory outputs make the forecast useful for reorder planning</a:t>
            </a:r>
          </a:p>
          <a:p>
            <a:r>
              <a:rPr lang="en-US" sz="2000" dirty="0">
                <a:solidFill>
                  <a:srgbClr val="000000"/>
                </a:solidFill>
                <a:latin typeface="Arial" panose="020B0604020202020204" pitchFamily="34" charset="0"/>
              </a:rPr>
              <a:t>The workflow is reproducible through scripts, tables, figures and dashboard output</a:t>
            </a:r>
            <a:endParaRPr sz="2000" dirty="0">
              <a:solidFill>
                <a:srgbClr val="000000"/>
              </a:solidFill>
              <a:latin typeface="Arial" panose="020B0604020202020204" pitchFamily="34" charset="0"/>
            </a:endParaRPr>
          </a:p>
        </p:txBody>
      </p:sp>
      <p:pic>
        <p:nvPicPr>
          <p:cNvPr id="4" name="Picture 3">
            <a:extLst>
              <a:ext uri="{FF2B5EF4-FFF2-40B4-BE49-F238E27FC236}">
                <a16:creationId xmlns:a16="http://schemas.microsoft.com/office/drawing/2014/main" id="{7383BAC3-EF5A-498E-9934-85548AA6ADC3}"/>
              </a:ext>
            </a:extLst>
          </p:cNvPr>
          <p:cNvPicPr>
            <a:picLocks noChangeAspect="1"/>
          </p:cNvPicPr>
          <p:nvPr/>
        </p:nvPicPr>
        <p:blipFill>
          <a:blip r:embed="rId2"/>
          <a:stretch>
            <a:fillRect/>
          </a:stretch>
        </p:blipFill>
        <p:spPr>
          <a:xfrm>
            <a:off x="3766784" y="0"/>
            <a:ext cx="4363059" cy="971686"/>
          </a:xfrm>
          <a:prstGeom prst="rect">
            <a:avLst/>
          </a:prstGeom>
          <a:solidFill>
            <a:schemeClr val="accent1">
              <a:alpha val="50000"/>
            </a:schemeClr>
          </a:solidFill>
          <a:ln>
            <a:noFill/>
          </a:ln>
          <a:effectLst>
            <a:outerShdw blurRad="292100" dist="139700" dir="2700000" algn="tl" rotWithShape="0">
              <a:srgbClr val="333333">
                <a:alpha val="65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lang="en-IN" sz="2800" b="1" dirty="0">
                <a:solidFill>
                  <a:schemeClr val="bg1"/>
                </a:solidFill>
                <a:latin typeface="Arial" panose="020B0604020202020204" pitchFamily="34" charset="0"/>
              </a:rPr>
              <a:t>Chapter 7: Recommendations</a:t>
            </a:r>
            <a:endParaRPr sz="2800" b="1" dirty="0">
              <a:solidFill>
                <a:schemeClr val="bg1"/>
              </a:solidFill>
              <a:latin typeface="Arial" panose="020B0604020202020204" pitchFamily="34" charset="0"/>
            </a:endParaRPr>
          </a:p>
        </p:txBody>
      </p:sp>
      <p:sp>
        <p:nvSpPr>
          <p:cNvPr id="3" name="Content Placeholder 2"/>
          <p:cNvSpPr>
            <a:spLocks noGrp="1"/>
          </p:cNvSpPr>
          <p:nvPr>
            <p:ph idx="1"/>
          </p:nvPr>
        </p:nvSpPr>
        <p:spPr>
          <a:xfrm>
            <a:off x="698500" y="4445000"/>
            <a:ext cx="4000500" cy="1460500"/>
          </a:xfrm>
        </p:spPr>
        <p:txBody>
          <a:bodyPr wrap="square">
            <a:noAutofit/>
          </a:bodyPr>
          <a:lstStyle/>
          <a:p>
            <a:r>
              <a:rPr lang="en-US" sz="1500">
                <a:solidFill>
                  <a:srgbClr val="000000"/>
                </a:solidFill>
                <a:latin typeface="Arial" panose="020B0604020202020204" pitchFamily="34" charset="0"/>
              </a:rPr>
              <a:t>Use family-wise reorder points instead of one general rule</a:t>
            </a:r>
          </a:p>
          <a:p>
            <a:r>
              <a:rPr lang="en-US" sz="1500">
                <a:solidFill>
                  <a:srgbClr val="000000"/>
                </a:solidFill>
                <a:latin typeface="Arial" panose="020B0604020202020204" pitchFamily="34" charset="0"/>
              </a:rPr>
              <a:t>Monitor reorder alerts generated during the planning horizon</a:t>
            </a:r>
          </a:p>
          <a:p>
            <a:r>
              <a:rPr lang="en-US" sz="1500">
                <a:solidFill>
                  <a:srgbClr val="000000"/>
                </a:solidFill>
                <a:latin typeface="Arial" panose="020B0604020202020204" pitchFamily="34" charset="0"/>
              </a:rPr>
              <a:t>Review high-volume GROCERY I more frequently</a:t>
            </a:r>
          </a:p>
          <a:p>
            <a:r>
              <a:rPr lang="en-US" sz="1500">
                <a:solidFill>
                  <a:srgbClr val="000000"/>
                </a:solidFill>
                <a:latin typeface="Arial" panose="020B0604020202020204" pitchFamily="34" charset="0"/>
              </a:rPr>
              <a:t>Use dashboard and CSV outputs for manager review</a:t>
            </a:r>
            <a:endParaRPr sz="1500" dirty="0">
              <a:solidFill>
                <a:srgbClr val="000000"/>
              </a:solidFill>
              <a:latin typeface="Arial" panose="020B0604020202020204" pitchFamily="34" charset="0"/>
            </a:endParaRPr>
          </a:p>
        </p:txBody>
      </p:sp>
      <p:pic>
        <p:nvPicPr>
          <p:cNvPr id="6" name="Picture 5">
            <a:extLst>
              <a:ext uri="{FF2B5EF4-FFF2-40B4-BE49-F238E27FC236}">
                <a16:creationId xmlns:a16="http://schemas.microsoft.com/office/drawing/2014/main" id="{97EBE214-9038-450B-93E5-6CA20EF7090F}"/>
              </a:ext>
            </a:extLst>
          </p:cNvPr>
          <p:cNvPicPr>
            <a:picLocks noChangeAspect="1"/>
          </p:cNvPicPr>
          <p:nvPr/>
        </p:nvPicPr>
        <p:blipFill>
          <a:blip r:embed="rId2"/>
          <a:stretch>
            <a:fillRect/>
          </a:stretch>
        </p:blipFill>
        <p:spPr>
          <a:xfrm>
            <a:off x="3766784" y="0"/>
            <a:ext cx="4363059" cy="971686"/>
          </a:xfrm>
          <a:prstGeom prst="rect">
            <a:avLst/>
          </a:prstGeom>
          <a:solidFill>
            <a:schemeClr val="accent1">
              <a:alpha val="50000"/>
            </a:schemeClr>
          </a:solidFill>
          <a:ln>
            <a:noFill/>
          </a:ln>
          <a:effectLst>
            <a:outerShdw blurRad="292100" dist="139700" dir="2700000" algn="tl" rotWithShape="0">
              <a:srgbClr val="333333">
                <a:alpha val="65000"/>
              </a:srgbClr>
            </a:outerShdw>
          </a:effectLst>
        </p:spPr>
      </p:pic>
      <p:graphicFrame>
        <p:nvGraphicFramePr>
          <p:cNvPr id="4" name="Table 3">
            <a:extLst>
              <a:ext uri="{FF2B5EF4-FFF2-40B4-BE49-F238E27FC236}">
                <a16:creationId xmlns:a16="http://schemas.microsoft.com/office/drawing/2014/main" id="{E0BE72D6-3B0F-CD97-89D5-F4F9ECC77D27}"/>
              </a:ext>
            </a:extLst>
          </p:cNvPr>
          <p:cNvGraphicFramePr>
            <a:graphicFrameLocks noGrp="1"/>
          </p:cNvGraphicFramePr>
          <p:nvPr>
            <p:extLst>
              <p:ext uri="{D42A27DB-BD31-4B8C-83A1-F6EECF244321}">
                <p14:modId xmlns:p14="http://schemas.microsoft.com/office/powerpoint/2010/main" val="551128601"/>
              </p:ext>
            </p:extLst>
          </p:nvPr>
        </p:nvGraphicFramePr>
        <p:xfrm>
          <a:off x="698500" y="2667000"/>
          <a:ext cx="4191000" cy="1587500"/>
        </p:xfrm>
        <a:graphic>
          <a:graphicData uri="http://schemas.openxmlformats.org/drawingml/2006/table">
            <a:tbl>
              <a:tblPr firstRow="1" bandRow="1">
                <a:tableStyleId>{5C22544A-7EE6-4342-B048-85BDC9FD1C3A}</a:tableStyleId>
              </a:tblPr>
              <a:tblGrid>
                <a:gridCol w="1397000">
                  <a:extLst>
                    <a:ext uri="{9D8B030D-6E8A-4147-A177-3AD203B41FA5}">
                      <a16:colId xmlns:a16="http://schemas.microsoft.com/office/drawing/2014/main" val="426002673"/>
                    </a:ext>
                  </a:extLst>
                </a:gridCol>
                <a:gridCol w="1397000">
                  <a:extLst>
                    <a:ext uri="{9D8B030D-6E8A-4147-A177-3AD203B41FA5}">
                      <a16:colId xmlns:a16="http://schemas.microsoft.com/office/drawing/2014/main" val="3711469587"/>
                    </a:ext>
                  </a:extLst>
                </a:gridCol>
                <a:gridCol w="1397000">
                  <a:extLst>
                    <a:ext uri="{9D8B030D-6E8A-4147-A177-3AD203B41FA5}">
                      <a16:colId xmlns:a16="http://schemas.microsoft.com/office/drawing/2014/main" val="1201602553"/>
                    </a:ext>
                  </a:extLst>
                </a:gridCol>
              </a:tblGrid>
              <a:tr h="396875">
                <a:tc>
                  <a:txBody>
                    <a:bodyPr/>
                    <a:lstStyle/>
                    <a:p>
                      <a:r>
                        <a:rPr lang="en-IN" sz="1000" b="1">
                          <a:latin typeface="Arial" panose="020B0604020202020204" pitchFamily="34" charset="0"/>
                        </a:rPr>
                        <a:t>Family</a:t>
                      </a:r>
                    </a:p>
                  </a:txBody>
                  <a:tcPr>
                    <a:solidFill>
                      <a:srgbClr val="0070C0"/>
                    </a:solidFill>
                  </a:tcPr>
                </a:tc>
                <a:tc>
                  <a:txBody>
                    <a:bodyPr/>
                    <a:lstStyle/>
                    <a:p>
                      <a:r>
                        <a:rPr lang="en-IN" sz="1000" b="1">
                          <a:latin typeface="Arial" panose="020B0604020202020204" pitchFamily="34" charset="0"/>
                        </a:rPr>
                        <a:t>Reorder Point</a:t>
                      </a:r>
                    </a:p>
                  </a:txBody>
                  <a:tcPr>
                    <a:solidFill>
                      <a:srgbClr val="0070C0"/>
                    </a:solidFill>
                  </a:tcPr>
                </a:tc>
                <a:tc>
                  <a:txBody>
                    <a:bodyPr/>
                    <a:lstStyle/>
                    <a:p>
                      <a:r>
                        <a:rPr lang="en-IN" sz="1000" b="1">
                          <a:latin typeface="Arial" panose="020B0604020202020204" pitchFamily="34" charset="0"/>
                        </a:rPr>
                        <a:t>Order Qty</a:t>
                      </a:r>
                    </a:p>
                  </a:txBody>
                  <a:tcPr>
                    <a:solidFill>
                      <a:srgbClr val="0070C0"/>
                    </a:solidFill>
                  </a:tcPr>
                </a:tc>
                <a:extLst>
                  <a:ext uri="{0D108BD9-81ED-4DB2-BD59-A6C34878D82A}">
                    <a16:rowId xmlns:a16="http://schemas.microsoft.com/office/drawing/2014/main" val="4226048340"/>
                  </a:ext>
                </a:extLst>
              </a:tr>
              <a:tr h="396875">
                <a:tc>
                  <a:txBody>
                    <a:bodyPr/>
                    <a:lstStyle/>
                    <a:p>
                      <a:r>
                        <a:rPr lang="en-IN" sz="1000">
                          <a:latin typeface="Arial" panose="020B0604020202020204" pitchFamily="34" charset="0"/>
                        </a:rPr>
                        <a:t>BEVERAGES</a:t>
                      </a:r>
                    </a:p>
                  </a:txBody>
                  <a:tcPr/>
                </a:tc>
                <a:tc>
                  <a:txBody>
                    <a:bodyPr/>
                    <a:lstStyle/>
                    <a:p>
                      <a:r>
                        <a:rPr lang="en-IN" sz="1000">
                          <a:latin typeface="Arial" panose="020B0604020202020204" pitchFamily="34" charset="0"/>
                        </a:rPr>
                        <a:t>16,218.88</a:t>
                      </a:r>
                    </a:p>
                  </a:txBody>
                  <a:tcPr/>
                </a:tc>
                <a:tc>
                  <a:txBody>
                    <a:bodyPr/>
                    <a:lstStyle/>
                    <a:p>
                      <a:r>
                        <a:rPr lang="en-IN" sz="1000">
                          <a:latin typeface="Arial" panose="020B0604020202020204" pitchFamily="34" charset="0"/>
                        </a:rPr>
                        <a:t>30,623.65</a:t>
                      </a:r>
                    </a:p>
                  </a:txBody>
                  <a:tcPr/>
                </a:tc>
                <a:extLst>
                  <a:ext uri="{0D108BD9-81ED-4DB2-BD59-A6C34878D82A}">
                    <a16:rowId xmlns:a16="http://schemas.microsoft.com/office/drawing/2014/main" val="3416742101"/>
                  </a:ext>
                </a:extLst>
              </a:tr>
              <a:tr h="396875">
                <a:tc>
                  <a:txBody>
                    <a:bodyPr/>
                    <a:lstStyle/>
                    <a:p>
                      <a:r>
                        <a:rPr lang="en-IN" sz="1000">
                          <a:latin typeface="Arial" panose="020B0604020202020204" pitchFamily="34" charset="0"/>
                        </a:rPr>
                        <a:t>DAIRY</a:t>
                      </a:r>
                    </a:p>
                  </a:txBody>
                  <a:tcPr/>
                </a:tc>
                <a:tc>
                  <a:txBody>
                    <a:bodyPr/>
                    <a:lstStyle/>
                    <a:p>
                      <a:r>
                        <a:rPr lang="en-IN" sz="1000">
                          <a:latin typeface="Arial" panose="020B0604020202020204" pitchFamily="34" charset="0"/>
                        </a:rPr>
                        <a:t>7,017.94</a:t>
                      </a:r>
                    </a:p>
                  </a:txBody>
                  <a:tcPr/>
                </a:tc>
                <a:tc>
                  <a:txBody>
                    <a:bodyPr/>
                    <a:lstStyle/>
                    <a:p>
                      <a:r>
                        <a:rPr lang="en-IN" sz="1000">
                          <a:latin typeface="Arial" panose="020B0604020202020204" pitchFamily="34" charset="0"/>
                        </a:rPr>
                        <a:t>12,743.27</a:t>
                      </a:r>
                    </a:p>
                  </a:txBody>
                  <a:tcPr/>
                </a:tc>
                <a:extLst>
                  <a:ext uri="{0D108BD9-81ED-4DB2-BD59-A6C34878D82A}">
                    <a16:rowId xmlns:a16="http://schemas.microsoft.com/office/drawing/2014/main" val="4254789357"/>
                  </a:ext>
                </a:extLst>
              </a:tr>
              <a:tr h="396875">
                <a:tc>
                  <a:txBody>
                    <a:bodyPr/>
                    <a:lstStyle/>
                    <a:p>
                      <a:r>
                        <a:rPr lang="en-IN" sz="1000">
                          <a:latin typeface="Arial" panose="020B0604020202020204" pitchFamily="34" charset="0"/>
                        </a:rPr>
                        <a:t>GROCERY I</a:t>
                      </a:r>
                    </a:p>
                  </a:txBody>
                  <a:tcPr/>
                </a:tc>
                <a:tc>
                  <a:txBody>
                    <a:bodyPr/>
                    <a:lstStyle/>
                    <a:p>
                      <a:r>
                        <a:rPr lang="en-IN" sz="1000">
                          <a:latin typeface="Arial" panose="020B0604020202020204" pitchFamily="34" charset="0"/>
                        </a:rPr>
                        <a:t>21,676.35</a:t>
                      </a:r>
                    </a:p>
                  </a:txBody>
                  <a:tcPr/>
                </a:tc>
                <a:tc>
                  <a:txBody>
                    <a:bodyPr/>
                    <a:lstStyle/>
                    <a:p>
                      <a:r>
                        <a:rPr lang="en-IN" sz="1000">
                          <a:latin typeface="Arial" panose="020B0604020202020204" pitchFamily="34" charset="0"/>
                        </a:rPr>
                        <a:t>40,913.41</a:t>
                      </a:r>
                    </a:p>
                  </a:txBody>
                  <a:tcPr/>
                </a:tc>
                <a:extLst>
                  <a:ext uri="{0D108BD9-81ED-4DB2-BD59-A6C34878D82A}">
                    <a16:rowId xmlns:a16="http://schemas.microsoft.com/office/drawing/2014/main" val="382537197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1074656"/>
            <a:ext cx="7055380" cy="778592"/>
          </a:xfrm>
        </p:spPr>
        <p:txBody>
          <a:bodyPr wrap="square">
            <a:noAutofit/>
          </a:bodyPr>
          <a:lstStyle/>
          <a:p>
            <a:r>
              <a:rPr lang="en-IN" sz="2800" b="1" dirty="0">
                <a:solidFill>
                  <a:schemeClr val="bg1"/>
                </a:solidFill>
                <a:latin typeface="Arial" panose="020B0604020202020204" pitchFamily="34" charset="0"/>
              </a:rPr>
              <a:t>Chapter 8: Limitations</a:t>
            </a:r>
            <a:endParaRPr sz="2800" b="1" dirty="0">
              <a:solidFill>
                <a:schemeClr val="bg1"/>
              </a:solidFill>
              <a:latin typeface="Arial" panose="020B0604020202020204" pitchFamily="34" charset="0"/>
            </a:endParaRPr>
          </a:p>
        </p:txBody>
      </p:sp>
      <p:sp>
        <p:nvSpPr>
          <p:cNvPr id="3" name="Content Placeholder 2"/>
          <p:cNvSpPr>
            <a:spLocks noGrp="1"/>
          </p:cNvSpPr>
          <p:nvPr>
            <p:ph idx="1"/>
          </p:nvPr>
        </p:nvSpPr>
        <p:spPr>
          <a:xfrm>
            <a:off x="866139" y="2489200"/>
            <a:ext cx="6343650" cy="3530600"/>
          </a:xfrm>
        </p:spPr>
        <p:txBody>
          <a:bodyPr wrap="square">
            <a:noAutofit/>
          </a:bodyPr>
          <a:lstStyle/>
          <a:p>
            <a:r>
              <a:rPr lang="en-US" sz="2000" dirty="0">
                <a:solidFill>
                  <a:srgbClr val="000000"/>
                </a:solidFill>
                <a:latin typeface="Arial" panose="020B0604020202020204" pitchFamily="34" charset="0"/>
              </a:rPr>
              <a:t>Scope limited to store 1 and three product families</a:t>
            </a:r>
          </a:p>
          <a:p>
            <a:r>
              <a:rPr lang="en-US" sz="2000" dirty="0">
                <a:solidFill>
                  <a:srgbClr val="000000"/>
                </a:solidFill>
                <a:latin typeface="Arial" panose="020B0604020202020204" pitchFamily="34" charset="0"/>
              </a:rPr>
              <a:t>Inventory policy uses simplified assumptions for lead time and service level</a:t>
            </a:r>
          </a:p>
          <a:p>
            <a:r>
              <a:rPr lang="en-US" sz="2000" dirty="0">
                <a:solidFill>
                  <a:srgbClr val="000000"/>
                </a:solidFill>
                <a:latin typeface="Arial" panose="020B0604020202020204" pitchFamily="34" charset="0"/>
              </a:rPr>
              <a:t>LSTM was not executed because TensorFlow/</a:t>
            </a:r>
            <a:r>
              <a:rPr lang="en-US" sz="2000" dirty="0" err="1">
                <a:solidFill>
                  <a:srgbClr val="000000"/>
                </a:solidFill>
                <a:latin typeface="Arial" panose="020B0604020202020204" pitchFamily="34" charset="0"/>
              </a:rPr>
              <a:t>Keras</a:t>
            </a:r>
            <a:r>
              <a:rPr lang="en-US" sz="2000" dirty="0">
                <a:solidFill>
                  <a:srgbClr val="000000"/>
                </a:solidFill>
                <a:latin typeface="Arial" panose="020B0604020202020204" pitchFamily="34" charset="0"/>
              </a:rPr>
              <a:t> was unavailable</a:t>
            </a:r>
          </a:p>
          <a:p>
            <a:r>
              <a:rPr lang="en-US" sz="2000" dirty="0">
                <a:solidFill>
                  <a:srgbClr val="000000"/>
                </a:solidFill>
                <a:latin typeface="Arial" panose="020B0604020202020204" pitchFamily="34" charset="0"/>
              </a:rPr>
              <a:t>No live database, supplier constraint or warehouse-capacity logic included</a:t>
            </a:r>
            <a:endParaRPr sz="2000" dirty="0">
              <a:solidFill>
                <a:srgbClr val="000000"/>
              </a:solidFill>
              <a:latin typeface="Arial" panose="020B0604020202020204" pitchFamily="34" charset="0"/>
            </a:endParaRPr>
          </a:p>
        </p:txBody>
      </p:sp>
      <p:pic>
        <p:nvPicPr>
          <p:cNvPr id="4" name="Picture 3">
            <a:extLst>
              <a:ext uri="{FF2B5EF4-FFF2-40B4-BE49-F238E27FC236}">
                <a16:creationId xmlns:a16="http://schemas.microsoft.com/office/drawing/2014/main" id="{6A0EF70A-EA5D-4722-A4F0-3E66ED567B02}"/>
              </a:ext>
            </a:extLst>
          </p:cNvPr>
          <p:cNvPicPr>
            <a:picLocks noChangeAspect="1"/>
          </p:cNvPicPr>
          <p:nvPr/>
        </p:nvPicPr>
        <p:blipFill>
          <a:blip r:embed="rId2"/>
          <a:stretch>
            <a:fillRect/>
          </a:stretch>
        </p:blipFill>
        <p:spPr>
          <a:xfrm>
            <a:off x="3766784" y="0"/>
            <a:ext cx="4363059" cy="971686"/>
          </a:xfrm>
          <a:prstGeom prst="rect">
            <a:avLst/>
          </a:prstGeom>
          <a:solidFill>
            <a:schemeClr val="accent1">
              <a:alpha val="50000"/>
            </a:schemeClr>
          </a:solidFill>
          <a:ln>
            <a:noFill/>
          </a:ln>
          <a:effectLst>
            <a:outerShdw blurRad="292100" dist="139700" dir="2700000" algn="tl" rotWithShape="0">
              <a:srgbClr val="333333">
                <a:alpha val="65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1131216"/>
            <a:ext cx="7055380" cy="722032"/>
          </a:xfrm>
        </p:spPr>
        <p:txBody>
          <a:bodyPr wrap="square">
            <a:noAutofit/>
          </a:bodyPr>
          <a:lstStyle/>
          <a:p>
            <a:r>
              <a:rPr lang="en-IN" sz="2800" b="1" dirty="0">
                <a:solidFill>
                  <a:schemeClr val="bg1"/>
                </a:solidFill>
                <a:latin typeface="Arial" panose="020B0604020202020204" pitchFamily="34" charset="0"/>
              </a:rPr>
              <a:t>Chapter 9: References</a:t>
            </a:r>
            <a:endParaRPr sz="2800" b="1" dirty="0">
              <a:solidFill>
                <a:schemeClr val="bg1"/>
              </a:solidFill>
              <a:latin typeface="Arial" panose="020B0604020202020204" pitchFamily="34" charset="0"/>
            </a:endParaRPr>
          </a:p>
        </p:txBody>
      </p:sp>
      <p:sp>
        <p:nvSpPr>
          <p:cNvPr id="3" name="Content Placeholder 2"/>
          <p:cNvSpPr>
            <a:spLocks noGrp="1"/>
          </p:cNvSpPr>
          <p:nvPr>
            <p:ph idx="1"/>
          </p:nvPr>
        </p:nvSpPr>
        <p:spPr>
          <a:xfrm>
            <a:off x="866140" y="2489200"/>
            <a:ext cx="6343650" cy="3530600"/>
          </a:xfrm>
        </p:spPr>
        <p:txBody>
          <a:bodyPr wrap="square">
            <a:noAutofit/>
          </a:bodyPr>
          <a:lstStyle/>
          <a:p>
            <a:r>
              <a:rPr lang="en-IN" dirty="0">
                <a:solidFill>
                  <a:srgbClr val="000000"/>
                </a:solidFill>
                <a:latin typeface="Arial" panose="020B0604020202020204" pitchFamily="34" charset="0"/>
              </a:rPr>
              <a:t>Corporacion Favorita grocery sales dataset</a:t>
            </a:r>
          </a:p>
          <a:p>
            <a:r>
              <a:rPr lang="en-IN" dirty="0">
                <a:solidFill>
                  <a:srgbClr val="000000"/>
                </a:solidFill>
                <a:latin typeface="Arial" panose="020B0604020202020204" pitchFamily="34" charset="0"/>
              </a:rPr>
              <a:t>Forecasting: Principles and Practice</a:t>
            </a:r>
          </a:p>
          <a:p>
            <a:r>
              <a:rPr lang="en-IN" dirty="0">
                <a:solidFill>
                  <a:srgbClr val="000000"/>
                </a:solidFill>
                <a:latin typeface="Arial" panose="020B0604020202020204" pitchFamily="34" charset="0"/>
              </a:rPr>
              <a:t>M5 forecasting competition literature</a:t>
            </a:r>
          </a:p>
          <a:p>
            <a:r>
              <a:rPr lang="en-IN" dirty="0">
                <a:solidFill>
                  <a:srgbClr val="000000"/>
                </a:solidFill>
                <a:latin typeface="Arial" panose="020B0604020202020204" pitchFamily="34" charset="0"/>
              </a:rPr>
              <a:t>Prophet, pandas, NumPy, Matplotlib and </a:t>
            </a:r>
            <a:r>
              <a:rPr lang="en-IN" dirty="0" err="1">
                <a:solidFill>
                  <a:srgbClr val="000000"/>
                </a:solidFill>
                <a:latin typeface="Arial" panose="020B0604020202020204" pitchFamily="34" charset="0"/>
              </a:rPr>
              <a:t>statsmodels</a:t>
            </a:r>
            <a:r>
              <a:rPr lang="en-IN" dirty="0">
                <a:solidFill>
                  <a:srgbClr val="000000"/>
                </a:solidFill>
                <a:latin typeface="Arial" panose="020B0604020202020204" pitchFamily="34" charset="0"/>
              </a:rPr>
              <a:t> documentation</a:t>
            </a:r>
          </a:p>
          <a:p>
            <a:r>
              <a:rPr lang="en-IN" dirty="0">
                <a:solidFill>
                  <a:srgbClr val="000000"/>
                </a:solidFill>
                <a:latin typeface="Arial" panose="020B0604020202020204" pitchFamily="34" charset="0"/>
              </a:rPr>
              <a:t>Inventory planning references for safety stock and reorder point</a:t>
            </a:r>
            <a:endParaRPr dirty="0">
              <a:solidFill>
                <a:srgbClr val="000000"/>
              </a:solidFill>
              <a:latin typeface="Arial" panose="020B0604020202020204" pitchFamily="34" charset="0"/>
            </a:endParaRPr>
          </a:p>
        </p:txBody>
      </p:sp>
      <p:pic>
        <p:nvPicPr>
          <p:cNvPr id="6" name="Picture 5">
            <a:extLst>
              <a:ext uri="{FF2B5EF4-FFF2-40B4-BE49-F238E27FC236}">
                <a16:creationId xmlns:a16="http://schemas.microsoft.com/office/drawing/2014/main" id="{3895BA2D-7B6E-42D2-A71B-2D48DBF8D3B4}"/>
              </a:ext>
            </a:extLst>
          </p:cNvPr>
          <p:cNvPicPr>
            <a:picLocks noChangeAspect="1"/>
          </p:cNvPicPr>
          <p:nvPr/>
        </p:nvPicPr>
        <p:blipFill>
          <a:blip r:embed="rId2"/>
          <a:stretch>
            <a:fillRect/>
          </a:stretch>
        </p:blipFill>
        <p:spPr>
          <a:xfrm>
            <a:off x="3766784" y="0"/>
            <a:ext cx="4363059" cy="971686"/>
          </a:xfrm>
          <a:prstGeom prst="rect">
            <a:avLst/>
          </a:prstGeom>
          <a:solidFill>
            <a:schemeClr val="accent1">
              <a:alpha val="50000"/>
            </a:schemeClr>
          </a:solidFill>
          <a:ln>
            <a:noFill/>
          </a:ln>
          <a:effectLst>
            <a:outerShdw blurRad="292100" dist="139700" dir="2700000" algn="tl" rotWithShape="0">
              <a:srgbClr val="333333">
                <a:alpha val="65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1121790"/>
            <a:ext cx="7055380" cy="731458"/>
          </a:xfrm>
        </p:spPr>
        <p:txBody>
          <a:bodyPr wrap="square">
            <a:noAutofit/>
          </a:bodyPr>
          <a:lstStyle/>
          <a:p>
            <a:r>
              <a:rPr lang="en-IN" sz="2800" b="1" dirty="0">
                <a:solidFill>
                  <a:schemeClr val="bg1"/>
                </a:solidFill>
                <a:latin typeface="Arial" panose="020B0604020202020204" pitchFamily="34" charset="0"/>
              </a:rPr>
              <a:t>Chapter 10: Appendices</a:t>
            </a:r>
            <a:endParaRPr sz="2800" b="1" dirty="0">
              <a:solidFill>
                <a:schemeClr val="bg1"/>
              </a:solidFill>
              <a:latin typeface="Arial" panose="020B0604020202020204" pitchFamily="34" charset="0"/>
            </a:endParaRPr>
          </a:p>
        </p:txBody>
      </p:sp>
      <p:sp>
        <p:nvSpPr>
          <p:cNvPr id="3" name="Content Placeholder 2"/>
          <p:cNvSpPr>
            <a:spLocks noGrp="1"/>
          </p:cNvSpPr>
          <p:nvPr>
            <p:ph idx="1"/>
          </p:nvPr>
        </p:nvSpPr>
        <p:spPr>
          <a:xfrm>
            <a:off x="866139" y="2489200"/>
            <a:ext cx="6343650" cy="3530600"/>
          </a:xfrm>
        </p:spPr>
        <p:txBody>
          <a:bodyPr wrap="square">
            <a:noAutofit/>
          </a:bodyPr>
          <a:lstStyle/>
          <a:p>
            <a:r>
              <a:rPr lang="en-US" sz="1900">
                <a:solidFill>
                  <a:srgbClr val="000000"/>
                </a:solidFill>
                <a:latin typeface="Arial" panose="020B0604020202020204" pitchFamily="34" charset="0"/>
              </a:rPr>
              <a:t>Source code structure and module descriptions</a:t>
            </a:r>
          </a:p>
          <a:p>
            <a:r>
              <a:rPr lang="en-US" sz="1900">
                <a:solidFill>
                  <a:srgbClr val="000000"/>
                </a:solidFill>
                <a:latin typeface="Arial" panose="020B0604020202020204" pitchFamily="34" charset="0"/>
              </a:rPr>
              <a:t>Generated output files: model metrics, forecasts and inventory tables</a:t>
            </a:r>
          </a:p>
          <a:p>
            <a:r>
              <a:rPr lang="en-US" sz="1900">
                <a:solidFill>
                  <a:srgbClr val="000000"/>
                </a:solidFill>
                <a:latin typeface="Arial" panose="020B0604020202020204" pitchFamily="34" charset="0"/>
              </a:rPr>
              <a:t>Charts: sales history, forecast vs actual, inventory simulation</a:t>
            </a:r>
          </a:p>
          <a:p>
            <a:r>
              <a:rPr lang="en-US" sz="1900">
                <a:solidFill>
                  <a:srgbClr val="000000"/>
                </a:solidFill>
                <a:latin typeface="Arial" panose="020B0604020202020204" pitchFamily="34" charset="0"/>
              </a:rPr>
              <a:t>Dashboard HTML summary</a:t>
            </a:r>
          </a:p>
          <a:p>
            <a:r>
              <a:rPr lang="en-US" sz="1900">
                <a:solidFill>
                  <a:srgbClr val="000000"/>
                </a:solidFill>
                <a:latin typeface="Arial" panose="020B0604020202020204" pitchFamily="34" charset="0"/>
              </a:rPr>
              <a:t>Notebook and scripts for project verification</a:t>
            </a:r>
            <a:endParaRPr sz="1900">
              <a:solidFill>
                <a:srgbClr val="000000"/>
              </a:solidFill>
              <a:latin typeface="Arial" panose="020B0604020202020204" pitchFamily="34" charset="0"/>
            </a:endParaRPr>
          </a:p>
        </p:txBody>
      </p:sp>
      <p:pic>
        <p:nvPicPr>
          <p:cNvPr id="4" name="Picture 3">
            <a:extLst>
              <a:ext uri="{FF2B5EF4-FFF2-40B4-BE49-F238E27FC236}">
                <a16:creationId xmlns:a16="http://schemas.microsoft.com/office/drawing/2014/main" id="{92AA2D6D-EA57-4E70-9B0C-4A471673BCF8}"/>
              </a:ext>
            </a:extLst>
          </p:cNvPr>
          <p:cNvPicPr>
            <a:picLocks noChangeAspect="1"/>
          </p:cNvPicPr>
          <p:nvPr/>
        </p:nvPicPr>
        <p:blipFill>
          <a:blip r:embed="rId2"/>
          <a:stretch>
            <a:fillRect/>
          </a:stretch>
        </p:blipFill>
        <p:spPr>
          <a:xfrm>
            <a:off x="3766784" y="0"/>
            <a:ext cx="4363059" cy="971686"/>
          </a:xfrm>
          <a:prstGeom prst="rect">
            <a:avLst/>
          </a:prstGeom>
          <a:solidFill>
            <a:schemeClr val="accent1">
              <a:alpha val="50000"/>
            </a:schemeClr>
          </a:solidFill>
          <a:ln>
            <a:noFill/>
          </a:ln>
          <a:effectLst>
            <a:outerShdw blurRad="292100" dist="139700" dir="2700000" algn="tl" rotWithShape="0">
              <a:srgbClr val="333333">
                <a:alpha val="65000"/>
              </a:srgbClr>
            </a:outerShdw>
          </a:effec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tint val="100000"/>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F1C4790-FE3C-4020-8CA7-00621DA7BBBC}"/>
    </a:ext>
  </a:extLst>
</a:theme>
</file>

<file path=docProps/app.xml><?xml version="1.0" encoding="utf-8"?>
<Properties xmlns="http://schemas.openxmlformats.org/officeDocument/2006/extended-properties" xmlns:vt="http://schemas.openxmlformats.org/officeDocument/2006/docPropsVTypes">
  <Template>Ion Boardroom</Template>
  <TotalTime>53</TotalTime>
  <Words>978</Words>
  <Application>Microsoft Office PowerPoint</Application>
  <PresentationFormat>On-screen Show (4:3)</PresentationFormat>
  <Paragraphs>121</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Cambria</vt:lpstr>
      <vt:lpstr>Century Gothic</vt:lpstr>
      <vt:lpstr>Times New Roman</vt:lpstr>
      <vt:lpstr>Wingdings 3</vt:lpstr>
      <vt:lpstr>Ion Boardroom</vt:lpstr>
      <vt:lpstr> Project Title -    Optimizing Retail Stock Levels Through AI-Powered Demand Prediction </vt:lpstr>
      <vt:lpstr>Certificate</vt:lpstr>
      <vt:lpstr>Declaration</vt:lpstr>
      <vt:lpstr>Acknowledgement</vt:lpstr>
      <vt:lpstr>Abstract / Executive Summary</vt:lpstr>
      <vt:lpstr>Presentation Outline</vt:lpstr>
      <vt:lpstr>Chapter 1: Introduction</vt:lpstr>
      <vt:lpstr>Chapter 2: Literature Review</vt:lpstr>
      <vt:lpstr>Chapter 3: Research Methodology</vt:lpstr>
      <vt:lpstr>Chapter 4: Data Analysis &amp; Interpretation</vt:lpstr>
      <vt:lpstr>Chapter 5: Findings / Results</vt:lpstr>
      <vt:lpstr>Chapter 6: Conclusions</vt:lpstr>
      <vt:lpstr>Chapter 7: Recommendations</vt:lpstr>
      <vt:lpstr>Chapter 8: Limitations</vt:lpstr>
      <vt:lpstr>Chapter 9: References</vt:lpstr>
      <vt:lpstr>Chapter 10: Appendices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subject/>
  <dc:creator>UserK</dc:creator>
  <cp:keywords/>
  <dc:description>generated using python-pptx</dc:description>
  <cp:lastModifiedBy>MOHIT YADAV</cp:lastModifiedBy>
  <cp:revision>7</cp:revision>
  <dcterms:created xsi:type="dcterms:W3CDTF">2013-01-27T09:14:16Z</dcterms:created>
  <dcterms:modified xsi:type="dcterms:W3CDTF">2026-05-19T16:46:53Z</dcterms:modified>
  <cp:category/>
</cp:coreProperties>
</file>